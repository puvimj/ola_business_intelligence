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3" r:id="rId8"/>
    <p:sldId id="266" r:id="rId9"/>
    <p:sldId id="267"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0" d="100"/>
          <a:sy n="130" d="100"/>
        </p:scale>
        <p:origin x="82"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8600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0"/>
          </a:xfrm>
          <a:prstGeom prst="rect">
            <a:avLst/>
          </a:prstGeom>
          <a:solidFill>
            <a:srgbClr val="3F6F12"/>
          </a:solidFill>
          <a:ln/>
        </p:spPr>
      </p:sp>
      <p:sp>
        <p:nvSpPr>
          <p:cNvPr id="3" name="Shape 1"/>
          <p:cNvSpPr/>
          <p:nvPr/>
        </p:nvSpPr>
        <p:spPr>
          <a:xfrm>
            <a:off x="0" y="1645920"/>
            <a:ext cx="9144000" cy="73152"/>
          </a:xfrm>
          <a:prstGeom prst="rect">
            <a:avLst/>
          </a:prstGeom>
          <a:solidFill>
            <a:srgbClr val="76B82A"/>
          </a:solidFill>
          <a:ln/>
        </p:spPr>
      </p:sp>
      <p:sp>
        <p:nvSpPr>
          <p:cNvPr id="4" name="Shape 2"/>
          <p:cNvSpPr/>
          <p:nvPr/>
        </p:nvSpPr>
        <p:spPr>
          <a:xfrm>
            <a:off x="457200" y="228600"/>
            <a:ext cx="1188720" cy="1188720"/>
          </a:xfrm>
          <a:prstGeom prst="ellipse">
            <a:avLst/>
          </a:prstGeom>
          <a:solidFill>
            <a:srgbClr val="1A1A1A"/>
          </a:solidFill>
          <a:ln w="25400">
            <a:solidFill>
              <a:srgbClr val="76B82A"/>
            </a:solidFill>
            <a:prstDash val="solid"/>
          </a:ln>
        </p:spPr>
      </p:sp>
      <p:sp>
        <p:nvSpPr>
          <p:cNvPr id="5" name="Shape 3"/>
          <p:cNvSpPr/>
          <p:nvPr/>
        </p:nvSpPr>
        <p:spPr>
          <a:xfrm>
            <a:off x="731520" y="502920"/>
            <a:ext cx="640080" cy="640080"/>
          </a:xfrm>
          <a:prstGeom prst="ellipse">
            <a:avLst/>
          </a:prstGeom>
          <a:solidFill>
            <a:srgbClr val="FFFFFF"/>
          </a:solidFill>
          <a:ln/>
        </p:spPr>
      </p:sp>
      <p:sp>
        <p:nvSpPr>
          <p:cNvPr id="6" name="Shape 4"/>
          <p:cNvSpPr/>
          <p:nvPr/>
        </p:nvSpPr>
        <p:spPr>
          <a:xfrm>
            <a:off x="896112" y="667512"/>
            <a:ext cx="310896" cy="310896"/>
          </a:xfrm>
          <a:prstGeom prst="ellipse">
            <a:avLst/>
          </a:prstGeom>
          <a:solidFill>
            <a:srgbClr val="1A1A1A"/>
          </a:solidFill>
          <a:ln/>
        </p:spPr>
      </p:sp>
      <p:sp>
        <p:nvSpPr>
          <p:cNvPr id="7" name="Shape 5"/>
          <p:cNvSpPr/>
          <p:nvPr/>
        </p:nvSpPr>
        <p:spPr>
          <a:xfrm>
            <a:off x="978408" y="749808"/>
            <a:ext cx="146304" cy="146304"/>
          </a:xfrm>
          <a:prstGeom prst="ellipse">
            <a:avLst/>
          </a:prstGeom>
          <a:solidFill>
            <a:srgbClr val="F1C40F"/>
          </a:solidFill>
          <a:ln/>
        </p:spPr>
      </p:sp>
      <p:sp>
        <p:nvSpPr>
          <p:cNvPr id="8" name="Text 6"/>
          <p:cNvSpPr/>
          <p:nvPr/>
        </p:nvSpPr>
        <p:spPr>
          <a:xfrm>
            <a:off x="1783080" y="274320"/>
            <a:ext cx="2743200" cy="73152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OLA</a:t>
            </a:r>
            <a:endParaRPr lang="en-US" sz="4000" dirty="0"/>
          </a:p>
        </p:txBody>
      </p:sp>
      <p:sp>
        <p:nvSpPr>
          <p:cNvPr id="9" name="Text 7"/>
          <p:cNvSpPr/>
          <p:nvPr/>
        </p:nvSpPr>
        <p:spPr>
          <a:xfrm>
            <a:off x="1801368" y="960120"/>
            <a:ext cx="3657600" cy="457200"/>
          </a:xfrm>
          <a:prstGeom prst="rect">
            <a:avLst/>
          </a:prstGeom>
          <a:noFill/>
          <a:ln/>
        </p:spPr>
        <p:txBody>
          <a:bodyPr wrap="square" lIns="0" tIns="0" rIns="0" bIns="0" rtlCol="0" anchor="ctr"/>
          <a:lstStyle/>
          <a:p>
            <a:pPr marL="0" indent="0">
              <a:buNone/>
            </a:pPr>
            <a:r>
              <a:rPr lang="en-US" sz="1400" kern="0" spc="200" dirty="0">
                <a:solidFill>
                  <a:srgbClr val="8DC63F"/>
                </a:solidFill>
                <a:latin typeface="Arial" pitchFamily="34" charset="0"/>
                <a:ea typeface="Arial" pitchFamily="34" charset="-122"/>
                <a:cs typeface="Arial" pitchFamily="34" charset="-120"/>
              </a:rPr>
              <a:t>Ride Analytics</a:t>
            </a:r>
            <a:endParaRPr lang="en-US" sz="1400" dirty="0"/>
          </a:p>
        </p:txBody>
      </p:sp>
      <p:sp>
        <p:nvSpPr>
          <p:cNvPr id="10" name="Text 8"/>
          <p:cNvSpPr/>
          <p:nvPr/>
        </p:nvSpPr>
        <p:spPr>
          <a:xfrm>
            <a:off x="457200" y="1920240"/>
            <a:ext cx="8229600" cy="82296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Project Documentation</a:t>
            </a:r>
            <a:endParaRPr lang="en-US" sz="3600" dirty="0"/>
          </a:p>
        </p:txBody>
      </p:sp>
      <p:sp>
        <p:nvSpPr>
          <p:cNvPr id="11" name="Text 9"/>
          <p:cNvSpPr/>
          <p:nvPr/>
        </p:nvSpPr>
        <p:spPr>
          <a:xfrm>
            <a:off x="457200" y="2743200"/>
            <a:ext cx="8229600" cy="457200"/>
          </a:xfrm>
          <a:prstGeom prst="rect">
            <a:avLst/>
          </a:prstGeom>
          <a:noFill/>
          <a:ln/>
        </p:spPr>
        <p:txBody>
          <a:bodyPr wrap="square" rtlCol="0" anchor="ctr"/>
          <a:lstStyle/>
          <a:p>
            <a:pPr marL="0" indent="0" algn="ctr">
              <a:buNone/>
            </a:pPr>
            <a:r>
              <a:rPr lang="en-US" sz="1600" kern="0" spc="100" dirty="0">
                <a:solidFill>
                  <a:srgbClr val="8DC63F"/>
                </a:solidFill>
                <a:latin typeface="Arial" pitchFamily="34" charset="0"/>
                <a:ea typeface="Arial" pitchFamily="34" charset="-122"/>
                <a:cs typeface="Arial" pitchFamily="34" charset="-120"/>
              </a:rPr>
              <a:t>OLA Ride-Sharing Data Analytics &amp; Business Intelligence</a:t>
            </a:r>
            <a:endParaRPr lang="en-US" sz="1600" dirty="0"/>
          </a:p>
        </p:txBody>
      </p:sp>
      <p:sp>
        <p:nvSpPr>
          <p:cNvPr id="12" name="Shape 10"/>
          <p:cNvSpPr/>
          <p:nvPr/>
        </p:nvSpPr>
        <p:spPr>
          <a:xfrm>
            <a:off x="1559170" y="3474720"/>
            <a:ext cx="1920240" cy="1097280"/>
          </a:xfrm>
          <a:prstGeom prst="roundRect">
            <a:avLst>
              <a:gd name="adj" fmla="val 6667"/>
            </a:avLst>
          </a:prstGeom>
          <a:solidFill>
            <a:srgbClr val="3F6F12"/>
          </a:solidFill>
          <a:ln/>
          <a:effectLst>
            <a:outerShdw blurRad="101600" dist="38100" dir="2700000" algn="bl" rotWithShape="0">
              <a:srgbClr val="000000">
                <a:alpha val="12000"/>
              </a:srgbClr>
            </a:outerShdw>
          </a:effectLst>
        </p:spPr>
      </p:sp>
      <p:sp>
        <p:nvSpPr>
          <p:cNvPr id="13" name="Text 11"/>
          <p:cNvSpPr/>
          <p:nvPr/>
        </p:nvSpPr>
        <p:spPr>
          <a:xfrm>
            <a:off x="1559170" y="3520440"/>
            <a:ext cx="1920240" cy="365760"/>
          </a:xfrm>
          <a:prstGeom prst="rect">
            <a:avLst/>
          </a:prstGeom>
          <a:noFill/>
          <a:ln/>
        </p:spPr>
        <p:txBody>
          <a:bodyPr wrap="square" rtlCol="0" anchor="ctr"/>
          <a:lstStyle/>
          <a:p>
            <a:pPr marL="0" indent="0" algn="ctr">
              <a:buNone/>
            </a:pPr>
            <a:r>
              <a:rPr lang="en-US" sz="1000" dirty="0">
                <a:solidFill>
                  <a:srgbClr val="8DC63F"/>
                </a:solidFill>
                <a:latin typeface="Arial" pitchFamily="34" charset="0"/>
                <a:ea typeface="Arial" pitchFamily="34" charset="-122"/>
                <a:cs typeface="Arial" pitchFamily="34" charset="-120"/>
              </a:rPr>
              <a:t>Data Source</a:t>
            </a:r>
            <a:endParaRPr lang="en-US" sz="1000" dirty="0"/>
          </a:p>
        </p:txBody>
      </p:sp>
      <p:sp>
        <p:nvSpPr>
          <p:cNvPr id="14" name="Text 12"/>
          <p:cNvSpPr/>
          <p:nvPr/>
        </p:nvSpPr>
        <p:spPr>
          <a:xfrm>
            <a:off x="1559170" y="3840480"/>
            <a:ext cx="192024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PostgreSQL DB</a:t>
            </a:r>
            <a:endParaRPr lang="en-US" sz="1300" dirty="0"/>
          </a:p>
        </p:txBody>
      </p:sp>
      <p:sp>
        <p:nvSpPr>
          <p:cNvPr id="15" name="Shape 13"/>
          <p:cNvSpPr/>
          <p:nvPr/>
        </p:nvSpPr>
        <p:spPr>
          <a:xfrm>
            <a:off x="3662290" y="3474720"/>
            <a:ext cx="1920240" cy="1097280"/>
          </a:xfrm>
          <a:prstGeom prst="roundRect">
            <a:avLst>
              <a:gd name="adj" fmla="val 6667"/>
            </a:avLst>
          </a:prstGeom>
          <a:solidFill>
            <a:srgbClr val="3F6F12"/>
          </a:solidFill>
          <a:ln/>
          <a:effectLst>
            <a:outerShdw blurRad="101600" dist="38100" dir="2700000" algn="bl" rotWithShape="0">
              <a:srgbClr val="000000">
                <a:alpha val="12000"/>
              </a:srgbClr>
            </a:outerShdw>
          </a:effectLst>
        </p:spPr>
      </p:sp>
      <p:sp>
        <p:nvSpPr>
          <p:cNvPr id="16" name="Text 14"/>
          <p:cNvSpPr/>
          <p:nvPr/>
        </p:nvSpPr>
        <p:spPr>
          <a:xfrm>
            <a:off x="3662290" y="3520440"/>
            <a:ext cx="1920240" cy="365760"/>
          </a:xfrm>
          <a:prstGeom prst="rect">
            <a:avLst/>
          </a:prstGeom>
          <a:noFill/>
          <a:ln/>
        </p:spPr>
        <p:txBody>
          <a:bodyPr wrap="square" rtlCol="0" anchor="ctr"/>
          <a:lstStyle/>
          <a:p>
            <a:pPr marL="0" indent="0" algn="ctr">
              <a:buNone/>
            </a:pPr>
            <a:r>
              <a:rPr lang="en-US" sz="1000" dirty="0">
                <a:solidFill>
                  <a:srgbClr val="8DC63F"/>
                </a:solidFill>
                <a:latin typeface="Arial" pitchFamily="34" charset="0"/>
                <a:ea typeface="Arial" pitchFamily="34" charset="-122"/>
                <a:cs typeface="Arial" pitchFamily="34" charset="-120"/>
              </a:rPr>
              <a:t>Dashboard</a:t>
            </a:r>
            <a:endParaRPr lang="en-US" sz="1000" dirty="0"/>
          </a:p>
        </p:txBody>
      </p:sp>
      <p:sp>
        <p:nvSpPr>
          <p:cNvPr id="17" name="Text 15"/>
          <p:cNvSpPr/>
          <p:nvPr/>
        </p:nvSpPr>
        <p:spPr>
          <a:xfrm>
            <a:off x="3662290" y="3840480"/>
            <a:ext cx="192024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Power BI</a:t>
            </a:r>
            <a:endParaRPr lang="en-US" sz="1300" dirty="0"/>
          </a:p>
        </p:txBody>
      </p:sp>
      <p:sp>
        <p:nvSpPr>
          <p:cNvPr id="18" name="Shape 16"/>
          <p:cNvSpPr/>
          <p:nvPr/>
        </p:nvSpPr>
        <p:spPr>
          <a:xfrm>
            <a:off x="5765410" y="3474720"/>
            <a:ext cx="1920240" cy="1097280"/>
          </a:xfrm>
          <a:prstGeom prst="roundRect">
            <a:avLst>
              <a:gd name="adj" fmla="val 6667"/>
            </a:avLst>
          </a:prstGeom>
          <a:solidFill>
            <a:srgbClr val="3F6F12"/>
          </a:solidFill>
          <a:ln/>
          <a:effectLst>
            <a:outerShdw blurRad="101600" dist="38100" dir="2700000" algn="bl" rotWithShape="0">
              <a:srgbClr val="000000">
                <a:alpha val="12000"/>
              </a:srgbClr>
            </a:outerShdw>
          </a:effectLst>
        </p:spPr>
      </p:sp>
      <p:sp>
        <p:nvSpPr>
          <p:cNvPr id="19" name="Text 17"/>
          <p:cNvSpPr/>
          <p:nvPr/>
        </p:nvSpPr>
        <p:spPr>
          <a:xfrm>
            <a:off x="5765410" y="3520440"/>
            <a:ext cx="1920240" cy="365760"/>
          </a:xfrm>
          <a:prstGeom prst="rect">
            <a:avLst/>
          </a:prstGeom>
          <a:noFill/>
          <a:ln/>
        </p:spPr>
        <p:txBody>
          <a:bodyPr wrap="square" rtlCol="0" anchor="ctr"/>
          <a:lstStyle/>
          <a:p>
            <a:pPr marL="0" indent="0" algn="ctr">
              <a:buNone/>
            </a:pPr>
            <a:r>
              <a:rPr lang="en-US" sz="1000" dirty="0">
                <a:solidFill>
                  <a:srgbClr val="8DC63F"/>
                </a:solidFill>
                <a:latin typeface="Arial" pitchFamily="34" charset="0"/>
                <a:ea typeface="Arial" pitchFamily="34" charset="-122"/>
                <a:cs typeface="Arial" pitchFamily="34" charset="-120"/>
              </a:rPr>
              <a:t>Application</a:t>
            </a:r>
            <a:endParaRPr lang="en-US" sz="1000" dirty="0"/>
          </a:p>
        </p:txBody>
      </p:sp>
      <p:sp>
        <p:nvSpPr>
          <p:cNvPr id="20" name="Text 18"/>
          <p:cNvSpPr/>
          <p:nvPr/>
        </p:nvSpPr>
        <p:spPr>
          <a:xfrm>
            <a:off x="5765410" y="3840480"/>
            <a:ext cx="1920240" cy="45720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Streamlit</a:t>
            </a:r>
            <a:endParaRPr lang="en-US" sz="1300" dirty="0"/>
          </a:p>
        </p:txBody>
      </p:sp>
      <p:sp>
        <p:nvSpPr>
          <p:cNvPr id="24" name="Text 22"/>
          <p:cNvSpPr/>
          <p:nvPr/>
        </p:nvSpPr>
        <p:spPr>
          <a:xfrm>
            <a:off x="457200" y="4754880"/>
            <a:ext cx="8229600" cy="274320"/>
          </a:xfrm>
          <a:prstGeom prst="rect">
            <a:avLst/>
          </a:prstGeom>
          <a:noFill/>
          <a:ln/>
        </p:spPr>
        <p:txBody>
          <a:bodyPr wrap="square" rtlCol="0" anchor="ctr"/>
          <a:lstStyle/>
          <a:p>
            <a:pPr marL="0" indent="0" algn="ctr">
              <a:buNone/>
            </a:pPr>
            <a:r>
              <a:rPr lang="en-US" sz="1000" dirty="0">
                <a:solidFill>
                  <a:srgbClr val="6B6B6B"/>
                </a:solidFill>
                <a:latin typeface="Arial" pitchFamily="34" charset="0"/>
                <a:ea typeface="Arial" pitchFamily="34" charset="-122"/>
                <a:cs typeface="Arial" pitchFamily="34" charset="-120"/>
              </a:rPr>
              <a:t>Business Intelligence | Data Analytics | Interactive Visualization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F6F12"/>
          </a:solidFill>
          <a:ln/>
        </p:spPr>
      </p:sp>
      <p:sp>
        <p:nvSpPr>
          <p:cNvPr id="3" name="Text 1"/>
          <p:cNvSpPr/>
          <p:nvPr/>
        </p:nvSpPr>
        <p:spPr>
          <a:xfrm>
            <a:off x="457200" y="182880"/>
            <a:ext cx="8229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Problem Statement</a:t>
            </a:r>
            <a:endParaRPr lang="en-US" sz="2800" dirty="0"/>
          </a:p>
        </p:txBody>
      </p:sp>
      <p:sp>
        <p:nvSpPr>
          <p:cNvPr id="4" name="Shape 2"/>
          <p:cNvSpPr/>
          <p:nvPr/>
        </p:nvSpPr>
        <p:spPr>
          <a:xfrm>
            <a:off x="365760" y="1097280"/>
            <a:ext cx="8412480" cy="1188720"/>
          </a:xfrm>
          <a:prstGeom prst="roundRect">
            <a:avLst>
              <a:gd name="adj" fmla="val 6154"/>
            </a:avLst>
          </a:prstGeom>
          <a:solidFill>
            <a:srgbClr val="F0F0F0"/>
          </a:solidFill>
          <a:ln/>
        </p:spPr>
      </p:sp>
      <p:sp>
        <p:nvSpPr>
          <p:cNvPr id="5" name="Text 3"/>
          <p:cNvSpPr/>
          <p:nvPr/>
        </p:nvSpPr>
        <p:spPr>
          <a:xfrm>
            <a:off x="548640" y="1188720"/>
            <a:ext cx="8046720" cy="1005840"/>
          </a:xfrm>
          <a:prstGeom prst="rect">
            <a:avLst/>
          </a:prstGeom>
          <a:noFill/>
          <a:ln/>
        </p:spPr>
        <p:txBody>
          <a:bodyPr wrap="square" rtlCol="0" anchor="ctr"/>
          <a:lstStyle/>
          <a:p>
            <a:pPr marL="0" indent="0">
              <a:buNone/>
            </a:pPr>
            <a:r>
              <a:rPr lang="en-US" sz="1300" dirty="0">
                <a:solidFill>
                  <a:srgbClr val="1A1A1A"/>
                </a:solidFill>
                <a:latin typeface="Arial" pitchFamily="34" charset="0"/>
                <a:ea typeface="Arial" pitchFamily="34" charset="-122"/>
                <a:cs typeface="Arial" pitchFamily="34" charset="-120"/>
              </a:rPr>
              <a:t>The rise of ride-sharing platforms has transformed urban mobility. OLA generates vast amounts of data related to ride bookings, driver availability, fare calculations, and customer preferences. However, deriving actionable insights from this data remains a challenge.</a:t>
            </a:r>
            <a:endParaRPr lang="en-US" sz="1300" dirty="0"/>
          </a:p>
        </p:txBody>
      </p:sp>
      <p:sp>
        <p:nvSpPr>
          <p:cNvPr id="6" name="Shape 4"/>
          <p:cNvSpPr/>
          <p:nvPr/>
        </p:nvSpPr>
        <p:spPr>
          <a:xfrm>
            <a:off x="365760" y="2514600"/>
            <a:ext cx="4023360" cy="1097280"/>
          </a:xfrm>
          <a:prstGeom prst="roundRect">
            <a:avLst>
              <a:gd name="adj" fmla="val 6667"/>
            </a:avLst>
          </a:prstGeom>
          <a:solidFill>
            <a:srgbClr val="FFFFFF"/>
          </a:solidFill>
          <a:ln w="19050">
            <a:solidFill>
              <a:srgbClr val="8DC63F"/>
            </a:solidFill>
            <a:prstDash val="solid"/>
          </a:ln>
          <a:effectLst>
            <a:outerShdw blurRad="101600" dist="38100" dir="2700000" algn="bl" rotWithShape="0">
              <a:srgbClr val="000000">
                <a:alpha val="12000"/>
              </a:srgbClr>
            </a:outerShdw>
          </a:effectLst>
        </p:spPr>
      </p:sp>
      <p:sp>
        <p:nvSpPr>
          <p:cNvPr id="7" name="Shape 5"/>
          <p:cNvSpPr/>
          <p:nvPr/>
        </p:nvSpPr>
        <p:spPr>
          <a:xfrm>
            <a:off x="365760" y="2514600"/>
            <a:ext cx="164592" cy="1097280"/>
          </a:xfrm>
          <a:prstGeom prst="roundRect">
            <a:avLst>
              <a:gd name="adj" fmla="val 44444"/>
            </a:avLst>
          </a:prstGeom>
          <a:solidFill>
            <a:srgbClr val="76B82A"/>
          </a:solidFill>
          <a:ln/>
        </p:spPr>
      </p:sp>
      <p:sp>
        <p:nvSpPr>
          <p:cNvPr id="8" name="Text 6"/>
          <p:cNvSpPr/>
          <p:nvPr/>
        </p:nvSpPr>
        <p:spPr>
          <a:xfrm>
            <a:off x="621792" y="2606040"/>
            <a:ext cx="3657600" cy="320040"/>
          </a:xfrm>
          <a:prstGeom prst="rect">
            <a:avLst/>
          </a:prstGeom>
          <a:noFill/>
          <a:ln/>
        </p:spPr>
        <p:txBody>
          <a:bodyPr wrap="square" lIns="0" tIns="0" rIns="0" bIns="0" rtlCol="0" anchor="ctr"/>
          <a:lstStyle/>
          <a:p>
            <a:pPr marL="0" indent="0">
              <a:buNone/>
            </a:pPr>
            <a:r>
              <a:rPr lang="en-US" sz="1300" b="1" dirty="0">
                <a:solidFill>
                  <a:srgbClr val="3F6F12"/>
                </a:solidFill>
                <a:latin typeface="Arial" pitchFamily="34" charset="0"/>
                <a:ea typeface="Arial" pitchFamily="34" charset="-122"/>
                <a:cs typeface="Arial" pitchFamily="34" charset="-120"/>
              </a:rPr>
              <a:t>Data Volume</a:t>
            </a:r>
            <a:endParaRPr lang="en-US" sz="1300" dirty="0"/>
          </a:p>
        </p:txBody>
      </p:sp>
      <p:sp>
        <p:nvSpPr>
          <p:cNvPr id="9" name="Text 7"/>
          <p:cNvSpPr/>
          <p:nvPr/>
        </p:nvSpPr>
        <p:spPr>
          <a:xfrm>
            <a:off x="621792" y="2926080"/>
            <a:ext cx="3657600" cy="594360"/>
          </a:xfrm>
          <a:prstGeom prst="rect">
            <a:avLst/>
          </a:prstGeom>
          <a:noFill/>
          <a:ln/>
        </p:spPr>
        <p:txBody>
          <a:bodyPr wrap="square" lIns="0" tIns="0" rIns="0" bIns="0" rtlCol="0" anchor="ctr"/>
          <a:lstStyle/>
          <a:p>
            <a:pPr marL="0" indent="0">
              <a:buNone/>
            </a:pPr>
            <a:r>
              <a:rPr lang="en-US" sz="1100" dirty="0">
                <a:solidFill>
                  <a:srgbClr val="6B6B6B"/>
                </a:solidFill>
                <a:latin typeface="Arial" pitchFamily="34" charset="0"/>
                <a:ea typeface="Arial" pitchFamily="34" charset="-122"/>
                <a:cs typeface="Arial" pitchFamily="34" charset="-120"/>
              </a:rPr>
              <a:t>Over 1 lakh ride records requiring efficient processing and storage</a:t>
            </a:r>
            <a:endParaRPr lang="en-US" sz="1100" dirty="0"/>
          </a:p>
        </p:txBody>
      </p:sp>
      <p:sp>
        <p:nvSpPr>
          <p:cNvPr id="10" name="Shape 8"/>
          <p:cNvSpPr/>
          <p:nvPr/>
        </p:nvSpPr>
        <p:spPr>
          <a:xfrm>
            <a:off x="4663440" y="2514600"/>
            <a:ext cx="4023360" cy="1097280"/>
          </a:xfrm>
          <a:prstGeom prst="roundRect">
            <a:avLst>
              <a:gd name="adj" fmla="val 6667"/>
            </a:avLst>
          </a:prstGeom>
          <a:solidFill>
            <a:srgbClr val="FFFFFF"/>
          </a:solidFill>
          <a:ln w="19050">
            <a:solidFill>
              <a:srgbClr val="8DC63F"/>
            </a:solidFill>
            <a:prstDash val="solid"/>
          </a:ln>
          <a:effectLst>
            <a:outerShdw blurRad="101600" dist="38100" dir="2700000" algn="bl" rotWithShape="0">
              <a:srgbClr val="000000">
                <a:alpha val="12000"/>
              </a:srgbClr>
            </a:outerShdw>
          </a:effectLst>
        </p:spPr>
      </p:sp>
      <p:sp>
        <p:nvSpPr>
          <p:cNvPr id="11" name="Shape 9"/>
          <p:cNvSpPr/>
          <p:nvPr/>
        </p:nvSpPr>
        <p:spPr>
          <a:xfrm>
            <a:off x="4663440" y="2514600"/>
            <a:ext cx="164592" cy="1097280"/>
          </a:xfrm>
          <a:prstGeom prst="roundRect">
            <a:avLst>
              <a:gd name="adj" fmla="val 44444"/>
            </a:avLst>
          </a:prstGeom>
          <a:solidFill>
            <a:srgbClr val="76B82A"/>
          </a:solidFill>
          <a:ln/>
        </p:spPr>
      </p:sp>
      <p:sp>
        <p:nvSpPr>
          <p:cNvPr id="12" name="Text 10"/>
          <p:cNvSpPr/>
          <p:nvPr/>
        </p:nvSpPr>
        <p:spPr>
          <a:xfrm>
            <a:off x="4919472" y="2606040"/>
            <a:ext cx="3657600" cy="320040"/>
          </a:xfrm>
          <a:prstGeom prst="rect">
            <a:avLst/>
          </a:prstGeom>
          <a:noFill/>
          <a:ln/>
        </p:spPr>
        <p:txBody>
          <a:bodyPr wrap="square" lIns="0" tIns="0" rIns="0" bIns="0" rtlCol="0" anchor="ctr"/>
          <a:lstStyle/>
          <a:p>
            <a:pPr marL="0" indent="0">
              <a:buNone/>
            </a:pPr>
            <a:r>
              <a:rPr lang="en-US" sz="1300" b="1" dirty="0">
                <a:solidFill>
                  <a:srgbClr val="3F6F12"/>
                </a:solidFill>
                <a:latin typeface="Arial" pitchFamily="34" charset="0"/>
                <a:ea typeface="Arial" pitchFamily="34" charset="-122"/>
                <a:cs typeface="Arial" pitchFamily="34" charset="-120"/>
              </a:rPr>
              <a:t>Data Quality</a:t>
            </a:r>
            <a:endParaRPr lang="en-US" sz="1300" dirty="0"/>
          </a:p>
        </p:txBody>
      </p:sp>
      <p:sp>
        <p:nvSpPr>
          <p:cNvPr id="13" name="Text 11"/>
          <p:cNvSpPr/>
          <p:nvPr/>
        </p:nvSpPr>
        <p:spPr>
          <a:xfrm>
            <a:off x="4919472" y="2926080"/>
            <a:ext cx="3657600" cy="594360"/>
          </a:xfrm>
          <a:prstGeom prst="rect">
            <a:avLst/>
          </a:prstGeom>
          <a:noFill/>
          <a:ln/>
        </p:spPr>
        <p:txBody>
          <a:bodyPr wrap="square" lIns="0" tIns="0" rIns="0" bIns="0" rtlCol="0" anchor="ctr"/>
          <a:lstStyle/>
          <a:p>
            <a:pPr marL="0" indent="0">
              <a:buNone/>
            </a:pPr>
            <a:r>
              <a:rPr lang="en-US" sz="1100" dirty="0">
                <a:solidFill>
                  <a:srgbClr val="6B6B6B"/>
                </a:solidFill>
                <a:latin typeface="Arial" pitchFamily="34" charset="0"/>
                <a:ea typeface="Arial" pitchFamily="34" charset="-122"/>
                <a:cs typeface="Arial" pitchFamily="34" charset="-120"/>
              </a:rPr>
              <a:t>Missing values, inconsistent formats, and null ratings needing cleanup</a:t>
            </a:r>
            <a:endParaRPr lang="en-US" sz="1100" dirty="0"/>
          </a:p>
        </p:txBody>
      </p:sp>
      <p:sp>
        <p:nvSpPr>
          <p:cNvPr id="14" name="Shape 12"/>
          <p:cNvSpPr/>
          <p:nvPr/>
        </p:nvSpPr>
        <p:spPr>
          <a:xfrm>
            <a:off x="365760" y="3749040"/>
            <a:ext cx="4023360" cy="1097280"/>
          </a:xfrm>
          <a:prstGeom prst="roundRect">
            <a:avLst>
              <a:gd name="adj" fmla="val 6667"/>
            </a:avLst>
          </a:prstGeom>
          <a:solidFill>
            <a:srgbClr val="FFFFFF"/>
          </a:solidFill>
          <a:ln w="19050">
            <a:solidFill>
              <a:srgbClr val="8DC63F"/>
            </a:solidFill>
            <a:prstDash val="solid"/>
          </a:ln>
          <a:effectLst>
            <a:outerShdw blurRad="101600" dist="38100" dir="2700000" algn="bl" rotWithShape="0">
              <a:srgbClr val="000000">
                <a:alpha val="12000"/>
              </a:srgbClr>
            </a:outerShdw>
          </a:effectLst>
        </p:spPr>
      </p:sp>
      <p:sp>
        <p:nvSpPr>
          <p:cNvPr id="15" name="Shape 13"/>
          <p:cNvSpPr/>
          <p:nvPr/>
        </p:nvSpPr>
        <p:spPr>
          <a:xfrm>
            <a:off x="365760" y="3749040"/>
            <a:ext cx="164592" cy="1097280"/>
          </a:xfrm>
          <a:prstGeom prst="roundRect">
            <a:avLst>
              <a:gd name="adj" fmla="val 44444"/>
            </a:avLst>
          </a:prstGeom>
          <a:solidFill>
            <a:srgbClr val="76B82A"/>
          </a:solidFill>
          <a:ln/>
        </p:spPr>
      </p:sp>
      <p:sp>
        <p:nvSpPr>
          <p:cNvPr id="16" name="Text 14"/>
          <p:cNvSpPr/>
          <p:nvPr/>
        </p:nvSpPr>
        <p:spPr>
          <a:xfrm>
            <a:off x="621792" y="3840480"/>
            <a:ext cx="3657600" cy="320040"/>
          </a:xfrm>
          <a:prstGeom prst="rect">
            <a:avLst/>
          </a:prstGeom>
          <a:noFill/>
          <a:ln/>
        </p:spPr>
        <p:txBody>
          <a:bodyPr wrap="square" lIns="0" tIns="0" rIns="0" bIns="0" rtlCol="0" anchor="ctr"/>
          <a:lstStyle/>
          <a:p>
            <a:pPr marL="0" indent="0">
              <a:buNone/>
            </a:pPr>
            <a:r>
              <a:rPr lang="en-US" sz="1300" b="1" dirty="0">
                <a:solidFill>
                  <a:srgbClr val="3F6F12"/>
                </a:solidFill>
                <a:latin typeface="Arial" pitchFamily="34" charset="0"/>
                <a:ea typeface="Arial" pitchFamily="34" charset="-122"/>
                <a:cs typeface="Arial" pitchFamily="34" charset="-120"/>
              </a:rPr>
              <a:t>Insight Gap</a:t>
            </a:r>
            <a:endParaRPr lang="en-US" sz="1300" dirty="0"/>
          </a:p>
        </p:txBody>
      </p:sp>
      <p:sp>
        <p:nvSpPr>
          <p:cNvPr id="17" name="Text 15"/>
          <p:cNvSpPr/>
          <p:nvPr/>
        </p:nvSpPr>
        <p:spPr>
          <a:xfrm>
            <a:off x="621792" y="4160520"/>
            <a:ext cx="3657600" cy="594360"/>
          </a:xfrm>
          <a:prstGeom prst="rect">
            <a:avLst/>
          </a:prstGeom>
          <a:noFill/>
          <a:ln/>
        </p:spPr>
        <p:txBody>
          <a:bodyPr wrap="square" lIns="0" tIns="0" rIns="0" bIns="0" rtlCol="0" anchor="ctr"/>
          <a:lstStyle/>
          <a:p>
            <a:pPr marL="0" indent="0">
              <a:buNone/>
            </a:pPr>
            <a:r>
              <a:rPr lang="en-US" sz="1100" dirty="0">
                <a:solidFill>
                  <a:srgbClr val="6B6B6B"/>
                </a:solidFill>
                <a:latin typeface="Arial" pitchFamily="34" charset="0"/>
                <a:ea typeface="Arial" pitchFamily="34" charset="-122"/>
                <a:cs typeface="Arial" pitchFamily="34" charset="-120"/>
              </a:rPr>
              <a:t>Raw data not directly usable for business decision making</a:t>
            </a:r>
            <a:endParaRPr lang="en-US" sz="1100" dirty="0"/>
          </a:p>
        </p:txBody>
      </p:sp>
      <p:sp>
        <p:nvSpPr>
          <p:cNvPr id="18" name="Shape 16"/>
          <p:cNvSpPr/>
          <p:nvPr/>
        </p:nvSpPr>
        <p:spPr>
          <a:xfrm>
            <a:off x="4663440" y="3749040"/>
            <a:ext cx="4023360" cy="1097280"/>
          </a:xfrm>
          <a:prstGeom prst="roundRect">
            <a:avLst>
              <a:gd name="adj" fmla="val 6667"/>
            </a:avLst>
          </a:prstGeom>
          <a:solidFill>
            <a:srgbClr val="FFFFFF"/>
          </a:solidFill>
          <a:ln w="19050">
            <a:solidFill>
              <a:srgbClr val="8DC63F"/>
            </a:solidFill>
            <a:prstDash val="solid"/>
          </a:ln>
          <a:effectLst>
            <a:outerShdw blurRad="101600" dist="38100" dir="2700000" algn="bl" rotWithShape="0">
              <a:srgbClr val="000000">
                <a:alpha val="12000"/>
              </a:srgbClr>
            </a:outerShdw>
          </a:effectLst>
        </p:spPr>
      </p:sp>
      <p:sp>
        <p:nvSpPr>
          <p:cNvPr id="19" name="Shape 17"/>
          <p:cNvSpPr/>
          <p:nvPr/>
        </p:nvSpPr>
        <p:spPr>
          <a:xfrm>
            <a:off x="4663440" y="3749040"/>
            <a:ext cx="164592" cy="1097280"/>
          </a:xfrm>
          <a:prstGeom prst="roundRect">
            <a:avLst>
              <a:gd name="adj" fmla="val 44444"/>
            </a:avLst>
          </a:prstGeom>
          <a:solidFill>
            <a:srgbClr val="76B82A"/>
          </a:solidFill>
          <a:ln/>
        </p:spPr>
      </p:sp>
      <p:sp>
        <p:nvSpPr>
          <p:cNvPr id="20" name="Text 18"/>
          <p:cNvSpPr/>
          <p:nvPr/>
        </p:nvSpPr>
        <p:spPr>
          <a:xfrm>
            <a:off x="4919472" y="3840480"/>
            <a:ext cx="3657600" cy="320040"/>
          </a:xfrm>
          <a:prstGeom prst="rect">
            <a:avLst/>
          </a:prstGeom>
          <a:noFill/>
          <a:ln/>
        </p:spPr>
        <p:txBody>
          <a:bodyPr wrap="square" lIns="0" tIns="0" rIns="0" bIns="0" rtlCol="0" anchor="ctr"/>
          <a:lstStyle/>
          <a:p>
            <a:pPr marL="0" indent="0">
              <a:buNone/>
            </a:pPr>
            <a:r>
              <a:rPr lang="en-US" sz="1300" b="1" dirty="0">
                <a:solidFill>
                  <a:srgbClr val="3F6F12"/>
                </a:solidFill>
                <a:latin typeface="Arial" pitchFamily="34" charset="0"/>
                <a:ea typeface="Arial" pitchFamily="34" charset="-122"/>
                <a:cs typeface="Arial" pitchFamily="34" charset="-120"/>
              </a:rPr>
              <a:t>Visualization</a:t>
            </a:r>
            <a:endParaRPr lang="en-US" sz="1300" dirty="0"/>
          </a:p>
        </p:txBody>
      </p:sp>
      <p:sp>
        <p:nvSpPr>
          <p:cNvPr id="21" name="Text 19"/>
          <p:cNvSpPr/>
          <p:nvPr/>
        </p:nvSpPr>
        <p:spPr>
          <a:xfrm>
            <a:off x="4919472" y="4160520"/>
            <a:ext cx="3657600" cy="594360"/>
          </a:xfrm>
          <a:prstGeom prst="rect">
            <a:avLst/>
          </a:prstGeom>
          <a:noFill/>
          <a:ln/>
        </p:spPr>
        <p:txBody>
          <a:bodyPr wrap="square" lIns="0" tIns="0" rIns="0" bIns="0" rtlCol="0" anchor="ctr"/>
          <a:lstStyle/>
          <a:p>
            <a:pPr marL="0" indent="0">
              <a:buNone/>
            </a:pPr>
            <a:r>
              <a:rPr lang="en-US" sz="1100" dirty="0">
                <a:solidFill>
                  <a:srgbClr val="6B6B6B"/>
                </a:solidFill>
                <a:latin typeface="Arial" pitchFamily="34" charset="0"/>
                <a:ea typeface="Arial" pitchFamily="34" charset="-122"/>
                <a:cs typeface="Arial" pitchFamily="34" charset="-120"/>
              </a:rPr>
              <a:t>Need for interactive dashboards for non-technical stakeholders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5E9B1F"/>
          </a:solidFill>
          <a:ln/>
        </p:spPr>
      </p:sp>
      <p:sp>
        <p:nvSpPr>
          <p:cNvPr id="3" name="Text 1"/>
          <p:cNvSpPr/>
          <p:nvPr/>
        </p:nvSpPr>
        <p:spPr>
          <a:xfrm>
            <a:off x="457200" y="182880"/>
            <a:ext cx="8229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Business Use Cases</a:t>
            </a:r>
            <a:endParaRPr lang="en-US" sz="2800" dirty="0"/>
          </a:p>
        </p:txBody>
      </p:sp>
      <p:sp>
        <p:nvSpPr>
          <p:cNvPr id="4" name="Shape 2"/>
          <p:cNvSpPr/>
          <p:nvPr/>
        </p:nvSpPr>
        <p:spPr>
          <a:xfrm>
            <a:off x="365760" y="1188720"/>
            <a:ext cx="4023360" cy="1554480"/>
          </a:xfrm>
          <a:prstGeom prst="roundRect">
            <a:avLst>
              <a:gd name="adj" fmla="val 5882"/>
            </a:avLst>
          </a:prstGeom>
          <a:solidFill>
            <a:srgbClr val="FFFFFF"/>
          </a:solidFill>
          <a:ln/>
          <a:effectLst>
            <a:outerShdw blurRad="101600" dist="38100" dir="2700000" algn="bl" rotWithShape="0">
              <a:srgbClr val="000000">
                <a:alpha val="12000"/>
              </a:srgbClr>
            </a:outerShdw>
          </a:effectLst>
        </p:spPr>
      </p:sp>
      <p:sp>
        <p:nvSpPr>
          <p:cNvPr id="5" name="Shape 3"/>
          <p:cNvSpPr/>
          <p:nvPr/>
        </p:nvSpPr>
        <p:spPr>
          <a:xfrm>
            <a:off x="502920" y="1325880"/>
            <a:ext cx="594360" cy="594360"/>
          </a:xfrm>
          <a:prstGeom prst="ellipse">
            <a:avLst/>
          </a:prstGeom>
          <a:solidFill>
            <a:srgbClr val="3F6F12"/>
          </a:solidFill>
          <a:ln/>
        </p:spPr>
      </p:sp>
      <p:sp>
        <p:nvSpPr>
          <p:cNvPr id="6" name="Text 4"/>
          <p:cNvSpPr/>
          <p:nvPr/>
        </p:nvSpPr>
        <p:spPr>
          <a:xfrm>
            <a:off x="502920" y="1325880"/>
            <a:ext cx="594360" cy="59436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01</a:t>
            </a:r>
            <a:endParaRPr lang="en-US" sz="1600" dirty="0"/>
          </a:p>
        </p:txBody>
      </p:sp>
      <p:sp>
        <p:nvSpPr>
          <p:cNvPr id="7" name="Text 5"/>
          <p:cNvSpPr/>
          <p:nvPr/>
        </p:nvSpPr>
        <p:spPr>
          <a:xfrm>
            <a:off x="1188720" y="1325880"/>
            <a:ext cx="3017520" cy="365760"/>
          </a:xfrm>
          <a:prstGeom prst="rect">
            <a:avLst/>
          </a:prstGeom>
          <a:noFill/>
          <a:ln/>
        </p:spPr>
        <p:txBody>
          <a:bodyPr wrap="square" lIns="0" tIns="0" rIns="0" bIns="0" rtlCol="0" anchor="ctr"/>
          <a:lstStyle/>
          <a:p>
            <a:pPr marL="0" indent="0">
              <a:buNone/>
            </a:pPr>
            <a:r>
              <a:rPr lang="en-US" sz="1300" b="1" dirty="0">
                <a:solidFill>
                  <a:srgbClr val="3F6F12"/>
                </a:solidFill>
                <a:latin typeface="Arial" pitchFamily="34" charset="0"/>
                <a:ea typeface="Arial" pitchFamily="34" charset="-122"/>
                <a:cs typeface="Arial" pitchFamily="34" charset="-120"/>
              </a:rPr>
              <a:t>Peak Demand Analysis</a:t>
            </a:r>
            <a:endParaRPr lang="en-US" sz="1300" dirty="0"/>
          </a:p>
        </p:txBody>
      </p:sp>
      <p:sp>
        <p:nvSpPr>
          <p:cNvPr id="8" name="Text 6"/>
          <p:cNvSpPr/>
          <p:nvPr/>
        </p:nvSpPr>
        <p:spPr>
          <a:xfrm>
            <a:off x="502920" y="1965960"/>
            <a:ext cx="3749040" cy="685800"/>
          </a:xfrm>
          <a:prstGeom prst="rect">
            <a:avLst/>
          </a:prstGeom>
          <a:noFill/>
          <a:ln/>
        </p:spPr>
        <p:txBody>
          <a:bodyPr wrap="square" lIns="0" tIns="0" rIns="0" bIns="0" rtlCol="0" anchor="ctr"/>
          <a:lstStyle/>
          <a:p>
            <a:pPr marL="0" indent="0">
              <a:buNone/>
            </a:pPr>
            <a:r>
              <a:rPr lang="en-US" sz="1100" dirty="0">
                <a:solidFill>
                  <a:srgbClr val="6B6B6B"/>
                </a:solidFill>
                <a:latin typeface="Arial" pitchFamily="34" charset="0"/>
                <a:ea typeface="Arial" pitchFamily="34" charset="-122"/>
                <a:cs typeface="Arial" pitchFamily="34" charset="-120"/>
              </a:rPr>
              <a:t>Identifying peak hours and optimizing driver allocation to reduce wait times and increase ride acceptance rates.</a:t>
            </a:r>
            <a:endParaRPr lang="en-US" sz="1100" dirty="0"/>
          </a:p>
        </p:txBody>
      </p:sp>
      <p:sp>
        <p:nvSpPr>
          <p:cNvPr id="9" name="Shape 7"/>
          <p:cNvSpPr/>
          <p:nvPr/>
        </p:nvSpPr>
        <p:spPr>
          <a:xfrm>
            <a:off x="4663440" y="1188720"/>
            <a:ext cx="4023360" cy="1554480"/>
          </a:xfrm>
          <a:prstGeom prst="roundRect">
            <a:avLst>
              <a:gd name="adj" fmla="val 5882"/>
            </a:avLst>
          </a:prstGeom>
          <a:solidFill>
            <a:srgbClr val="FFFFFF"/>
          </a:solidFill>
          <a:ln/>
          <a:effectLst>
            <a:outerShdw blurRad="101600" dist="38100" dir="2700000" algn="bl" rotWithShape="0">
              <a:srgbClr val="000000">
                <a:alpha val="12000"/>
              </a:srgbClr>
            </a:outerShdw>
          </a:effectLst>
        </p:spPr>
      </p:sp>
      <p:sp>
        <p:nvSpPr>
          <p:cNvPr id="10" name="Shape 8"/>
          <p:cNvSpPr/>
          <p:nvPr/>
        </p:nvSpPr>
        <p:spPr>
          <a:xfrm>
            <a:off x="4800600" y="1325880"/>
            <a:ext cx="594360" cy="594360"/>
          </a:xfrm>
          <a:prstGeom prst="ellipse">
            <a:avLst/>
          </a:prstGeom>
          <a:solidFill>
            <a:srgbClr val="5E9B1F"/>
          </a:solidFill>
          <a:ln/>
        </p:spPr>
      </p:sp>
      <p:sp>
        <p:nvSpPr>
          <p:cNvPr id="11" name="Text 9"/>
          <p:cNvSpPr/>
          <p:nvPr/>
        </p:nvSpPr>
        <p:spPr>
          <a:xfrm>
            <a:off x="4800600" y="1325880"/>
            <a:ext cx="594360" cy="59436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02</a:t>
            </a:r>
            <a:endParaRPr lang="en-US" sz="1600" dirty="0"/>
          </a:p>
        </p:txBody>
      </p:sp>
      <p:sp>
        <p:nvSpPr>
          <p:cNvPr id="12" name="Text 10"/>
          <p:cNvSpPr/>
          <p:nvPr/>
        </p:nvSpPr>
        <p:spPr>
          <a:xfrm>
            <a:off x="5486400" y="1325880"/>
            <a:ext cx="3017520" cy="365760"/>
          </a:xfrm>
          <a:prstGeom prst="rect">
            <a:avLst/>
          </a:prstGeom>
          <a:noFill/>
          <a:ln/>
        </p:spPr>
        <p:txBody>
          <a:bodyPr wrap="square" lIns="0" tIns="0" rIns="0" bIns="0" rtlCol="0" anchor="ctr"/>
          <a:lstStyle/>
          <a:p>
            <a:pPr marL="0" indent="0">
              <a:buNone/>
            </a:pPr>
            <a:r>
              <a:rPr lang="en-US" sz="1300" b="1" dirty="0">
                <a:solidFill>
                  <a:srgbClr val="3F6F12"/>
                </a:solidFill>
                <a:latin typeface="Arial" pitchFamily="34" charset="0"/>
                <a:ea typeface="Arial" pitchFamily="34" charset="-122"/>
                <a:cs typeface="Arial" pitchFamily="34" charset="-120"/>
              </a:rPr>
              <a:t>Customer Behaviour</a:t>
            </a:r>
            <a:endParaRPr lang="en-US" sz="1300" dirty="0"/>
          </a:p>
        </p:txBody>
      </p:sp>
      <p:sp>
        <p:nvSpPr>
          <p:cNvPr id="13" name="Text 11"/>
          <p:cNvSpPr/>
          <p:nvPr/>
        </p:nvSpPr>
        <p:spPr>
          <a:xfrm>
            <a:off x="4800600" y="1965960"/>
            <a:ext cx="3749040" cy="685800"/>
          </a:xfrm>
          <a:prstGeom prst="rect">
            <a:avLst/>
          </a:prstGeom>
          <a:noFill/>
          <a:ln/>
        </p:spPr>
        <p:txBody>
          <a:bodyPr wrap="square" lIns="0" tIns="0" rIns="0" bIns="0" rtlCol="0" anchor="ctr"/>
          <a:lstStyle/>
          <a:p>
            <a:pPr marL="0" indent="0">
              <a:buNone/>
            </a:pPr>
            <a:r>
              <a:rPr lang="en-US" sz="1100" dirty="0">
                <a:solidFill>
                  <a:srgbClr val="6B6B6B"/>
                </a:solidFill>
                <a:latin typeface="Arial" pitchFamily="34" charset="0"/>
                <a:ea typeface="Arial" pitchFamily="34" charset="-122"/>
                <a:cs typeface="Arial" pitchFamily="34" charset="-120"/>
              </a:rPr>
              <a:t>Analyzing booking patterns, preferences, and rating trends for personalized marketing strategies.</a:t>
            </a:r>
            <a:endParaRPr lang="en-US" sz="1100" dirty="0"/>
          </a:p>
        </p:txBody>
      </p:sp>
      <p:sp>
        <p:nvSpPr>
          <p:cNvPr id="14" name="Shape 12"/>
          <p:cNvSpPr/>
          <p:nvPr/>
        </p:nvSpPr>
        <p:spPr>
          <a:xfrm>
            <a:off x="365760" y="2926080"/>
            <a:ext cx="4023360" cy="1554480"/>
          </a:xfrm>
          <a:prstGeom prst="roundRect">
            <a:avLst>
              <a:gd name="adj" fmla="val 5882"/>
            </a:avLst>
          </a:prstGeom>
          <a:solidFill>
            <a:srgbClr val="FFFFFF"/>
          </a:solidFill>
          <a:ln/>
          <a:effectLst>
            <a:outerShdw blurRad="101600" dist="38100" dir="2700000" algn="bl" rotWithShape="0">
              <a:srgbClr val="000000">
                <a:alpha val="12000"/>
              </a:srgbClr>
            </a:outerShdw>
          </a:effectLst>
        </p:spPr>
      </p:sp>
      <p:sp>
        <p:nvSpPr>
          <p:cNvPr id="15" name="Shape 13"/>
          <p:cNvSpPr/>
          <p:nvPr/>
        </p:nvSpPr>
        <p:spPr>
          <a:xfrm>
            <a:off x="502920" y="3063240"/>
            <a:ext cx="594360" cy="594360"/>
          </a:xfrm>
          <a:prstGeom prst="ellipse">
            <a:avLst/>
          </a:prstGeom>
          <a:solidFill>
            <a:srgbClr val="76B82A"/>
          </a:solidFill>
          <a:ln/>
        </p:spPr>
      </p:sp>
      <p:sp>
        <p:nvSpPr>
          <p:cNvPr id="16" name="Text 14"/>
          <p:cNvSpPr/>
          <p:nvPr/>
        </p:nvSpPr>
        <p:spPr>
          <a:xfrm>
            <a:off x="502920" y="3063240"/>
            <a:ext cx="594360" cy="59436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03</a:t>
            </a:r>
            <a:endParaRPr lang="en-US" sz="1600" dirty="0"/>
          </a:p>
        </p:txBody>
      </p:sp>
      <p:sp>
        <p:nvSpPr>
          <p:cNvPr id="17" name="Text 15"/>
          <p:cNvSpPr/>
          <p:nvPr/>
        </p:nvSpPr>
        <p:spPr>
          <a:xfrm>
            <a:off x="1188720" y="3063240"/>
            <a:ext cx="3017520" cy="365760"/>
          </a:xfrm>
          <a:prstGeom prst="rect">
            <a:avLst/>
          </a:prstGeom>
          <a:noFill/>
          <a:ln/>
        </p:spPr>
        <p:txBody>
          <a:bodyPr wrap="square" lIns="0" tIns="0" rIns="0" bIns="0" rtlCol="0" anchor="ctr"/>
          <a:lstStyle/>
          <a:p>
            <a:pPr marL="0" indent="0">
              <a:buNone/>
            </a:pPr>
            <a:r>
              <a:rPr lang="en-US" sz="1300" b="1" dirty="0">
                <a:solidFill>
                  <a:srgbClr val="3F6F12"/>
                </a:solidFill>
                <a:latin typeface="Arial" pitchFamily="34" charset="0"/>
                <a:ea typeface="Arial" pitchFamily="34" charset="-122"/>
                <a:cs typeface="Arial" pitchFamily="34" charset="-120"/>
              </a:rPr>
              <a:t>Pricing Optimization</a:t>
            </a:r>
            <a:endParaRPr lang="en-US" sz="1300" dirty="0"/>
          </a:p>
        </p:txBody>
      </p:sp>
      <p:sp>
        <p:nvSpPr>
          <p:cNvPr id="18" name="Text 16"/>
          <p:cNvSpPr/>
          <p:nvPr/>
        </p:nvSpPr>
        <p:spPr>
          <a:xfrm>
            <a:off x="502920" y="3703320"/>
            <a:ext cx="3749040" cy="685800"/>
          </a:xfrm>
          <a:prstGeom prst="rect">
            <a:avLst/>
          </a:prstGeom>
          <a:noFill/>
          <a:ln/>
        </p:spPr>
        <p:txBody>
          <a:bodyPr wrap="square" lIns="0" tIns="0" rIns="0" bIns="0" rtlCol="0" anchor="ctr"/>
          <a:lstStyle/>
          <a:p>
            <a:pPr marL="0" indent="0">
              <a:buNone/>
            </a:pPr>
            <a:r>
              <a:rPr lang="en-US" sz="1100" dirty="0">
                <a:solidFill>
                  <a:srgbClr val="6B6B6B"/>
                </a:solidFill>
                <a:latin typeface="Arial" pitchFamily="34" charset="0"/>
                <a:ea typeface="Arial" pitchFamily="34" charset="-122"/>
                <a:cs typeface="Arial" pitchFamily="34" charset="-120"/>
              </a:rPr>
              <a:t>Understanding pricing patterns and surge pricing effectiveness across vehicle types and time periods.</a:t>
            </a:r>
            <a:endParaRPr lang="en-US" sz="1100" dirty="0"/>
          </a:p>
        </p:txBody>
      </p:sp>
      <p:sp>
        <p:nvSpPr>
          <p:cNvPr id="19" name="Shape 17"/>
          <p:cNvSpPr/>
          <p:nvPr/>
        </p:nvSpPr>
        <p:spPr>
          <a:xfrm>
            <a:off x="4663440" y="2926080"/>
            <a:ext cx="4023360" cy="1554480"/>
          </a:xfrm>
          <a:prstGeom prst="roundRect">
            <a:avLst>
              <a:gd name="adj" fmla="val 5882"/>
            </a:avLst>
          </a:prstGeom>
          <a:solidFill>
            <a:srgbClr val="FFFFFF"/>
          </a:solidFill>
          <a:ln/>
          <a:effectLst>
            <a:outerShdw blurRad="101600" dist="38100" dir="2700000" algn="bl" rotWithShape="0">
              <a:srgbClr val="000000">
                <a:alpha val="12000"/>
              </a:srgbClr>
            </a:outerShdw>
          </a:effectLst>
        </p:spPr>
      </p:sp>
      <p:sp>
        <p:nvSpPr>
          <p:cNvPr id="20" name="Shape 18"/>
          <p:cNvSpPr/>
          <p:nvPr/>
        </p:nvSpPr>
        <p:spPr>
          <a:xfrm>
            <a:off x="4800600" y="3063240"/>
            <a:ext cx="594360" cy="594360"/>
          </a:xfrm>
          <a:prstGeom prst="ellipse">
            <a:avLst/>
          </a:prstGeom>
          <a:solidFill>
            <a:srgbClr val="8DC63F"/>
          </a:solidFill>
          <a:ln/>
        </p:spPr>
      </p:sp>
      <p:sp>
        <p:nvSpPr>
          <p:cNvPr id="21" name="Text 19"/>
          <p:cNvSpPr/>
          <p:nvPr/>
        </p:nvSpPr>
        <p:spPr>
          <a:xfrm>
            <a:off x="4800600" y="3063240"/>
            <a:ext cx="594360" cy="594360"/>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04</a:t>
            </a:r>
            <a:endParaRPr lang="en-US" sz="1600" dirty="0"/>
          </a:p>
        </p:txBody>
      </p:sp>
      <p:sp>
        <p:nvSpPr>
          <p:cNvPr id="22" name="Text 20"/>
          <p:cNvSpPr/>
          <p:nvPr/>
        </p:nvSpPr>
        <p:spPr>
          <a:xfrm>
            <a:off x="5486400" y="3063240"/>
            <a:ext cx="3017520" cy="365760"/>
          </a:xfrm>
          <a:prstGeom prst="rect">
            <a:avLst/>
          </a:prstGeom>
          <a:noFill/>
          <a:ln/>
        </p:spPr>
        <p:txBody>
          <a:bodyPr wrap="square" lIns="0" tIns="0" rIns="0" bIns="0" rtlCol="0" anchor="ctr"/>
          <a:lstStyle/>
          <a:p>
            <a:pPr marL="0" indent="0">
              <a:buNone/>
            </a:pPr>
            <a:r>
              <a:rPr lang="en-US" sz="1300" b="1" dirty="0">
                <a:solidFill>
                  <a:srgbClr val="3F6F12"/>
                </a:solidFill>
                <a:latin typeface="Arial" pitchFamily="34" charset="0"/>
                <a:ea typeface="Arial" pitchFamily="34" charset="-122"/>
                <a:cs typeface="Arial" pitchFamily="34" charset="-120"/>
              </a:rPr>
              <a:t>Anomaly Detection</a:t>
            </a:r>
            <a:endParaRPr lang="en-US" sz="1300" dirty="0"/>
          </a:p>
        </p:txBody>
      </p:sp>
      <p:sp>
        <p:nvSpPr>
          <p:cNvPr id="23" name="Text 21"/>
          <p:cNvSpPr/>
          <p:nvPr/>
        </p:nvSpPr>
        <p:spPr>
          <a:xfrm>
            <a:off x="4800600" y="3703320"/>
            <a:ext cx="3749040" cy="685800"/>
          </a:xfrm>
          <a:prstGeom prst="rect">
            <a:avLst/>
          </a:prstGeom>
          <a:noFill/>
          <a:ln/>
        </p:spPr>
        <p:txBody>
          <a:bodyPr wrap="square" lIns="0" tIns="0" rIns="0" bIns="0" rtlCol="0" anchor="ctr"/>
          <a:lstStyle/>
          <a:p>
            <a:pPr marL="0" indent="0">
              <a:buNone/>
            </a:pPr>
            <a:r>
              <a:rPr lang="en-US" sz="1100" dirty="0">
                <a:solidFill>
                  <a:srgbClr val="6B6B6B"/>
                </a:solidFill>
                <a:latin typeface="Arial" pitchFamily="34" charset="0"/>
                <a:ea typeface="Arial" pitchFamily="34" charset="-122"/>
                <a:cs typeface="Arial" pitchFamily="34" charset="-120"/>
              </a:rPr>
              <a:t>Detecting fraudulent activities, cancellation patterns, and incomplete rides to minimize revenue loss.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F6F12"/>
          </a:solidFill>
          <a:ln/>
        </p:spPr>
      </p:sp>
      <p:sp>
        <p:nvSpPr>
          <p:cNvPr id="3" name="Text 1"/>
          <p:cNvSpPr/>
          <p:nvPr/>
        </p:nvSpPr>
        <p:spPr>
          <a:xfrm>
            <a:off x="457200" y="182880"/>
            <a:ext cx="8229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Project Approach</a:t>
            </a:r>
            <a:endParaRPr lang="en-US" sz="2800" dirty="0"/>
          </a:p>
        </p:txBody>
      </p:sp>
      <p:sp>
        <p:nvSpPr>
          <p:cNvPr id="4" name="Shape 2"/>
          <p:cNvSpPr/>
          <p:nvPr/>
        </p:nvSpPr>
        <p:spPr>
          <a:xfrm>
            <a:off x="320040" y="1143000"/>
            <a:ext cx="2697480" cy="1600200"/>
          </a:xfrm>
          <a:prstGeom prst="roundRect">
            <a:avLst>
              <a:gd name="adj" fmla="val 5714"/>
            </a:avLst>
          </a:prstGeom>
          <a:solidFill>
            <a:srgbClr val="FFFFFF"/>
          </a:solidFill>
          <a:ln/>
          <a:effectLst>
            <a:outerShdw blurRad="101600" dist="38100" dir="2700000" algn="bl" rotWithShape="0">
              <a:srgbClr val="000000">
                <a:alpha val="12000"/>
              </a:srgbClr>
            </a:outerShdw>
          </a:effectLst>
        </p:spPr>
      </p:sp>
      <p:sp>
        <p:nvSpPr>
          <p:cNvPr id="5" name="Shape 3"/>
          <p:cNvSpPr/>
          <p:nvPr/>
        </p:nvSpPr>
        <p:spPr>
          <a:xfrm>
            <a:off x="457200" y="1280160"/>
            <a:ext cx="502920" cy="502920"/>
          </a:xfrm>
          <a:prstGeom prst="ellipse">
            <a:avLst/>
          </a:prstGeom>
          <a:solidFill>
            <a:srgbClr val="8DC63F"/>
          </a:solidFill>
          <a:ln/>
        </p:spPr>
      </p:sp>
      <p:sp>
        <p:nvSpPr>
          <p:cNvPr id="6" name="Text 4"/>
          <p:cNvSpPr/>
          <p:nvPr/>
        </p:nvSpPr>
        <p:spPr>
          <a:xfrm>
            <a:off x="457200" y="1280160"/>
            <a:ext cx="50292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051560" y="1307592"/>
            <a:ext cx="1828800" cy="365760"/>
          </a:xfrm>
          <a:prstGeom prst="rect">
            <a:avLst/>
          </a:prstGeom>
          <a:noFill/>
          <a:ln/>
        </p:spPr>
        <p:txBody>
          <a:bodyPr wrap="square" lIns="0" tIns="0" rIns="0" bIns="0" rtlCol="0" anchor="ctr"/>
          <a:lstStyle/>
          <a:p>
            <a:pPr marL="0" indent="0">
              <a:buNone/>
            </a:pPr>
            <a:r>
              <a:rPr lang="en-US" sz="1200" b="1" dirty="0">
                <a:solidFill>
                  <a:srgbClr val="3F6F12"/>
                </a:solidFill>
                <a:latin typeface="Arial" pitchFamily="34" charset="0"/>
                <a:ea typeface="Arial" pitchFamily="34" charset="-122"/>
                <a:cs typeface="Arial" pitchFamily="34" charset="-120"/>
              </a:rPr>
              <a:t>Data Understanding</a:t>
            </a:r>
            <a:endParaRPr lang="en-US" sz="1200" dirty="0"/>
          </a:p>
        </p:txBody>
      </p:sp>
      <p:sp>
        <p:nvSpPr>
          <p:cNvPr id="8" name="Text 6"/>
          <p:cNvSpPr/>
          <p:nvPr/>
        </p:nvSpPr>
        <p:spPr>
          <a:xfrm>
            <a:off x="457200" y="1874520"/>
            <a:ext cx="2423160" cy="731520"/>
          </a:xfrm>
          <a:prstGeom prst="rect">
            <a:avLst/>
          </a:prstGeom>
          <a:noFill/>
          <a:ln/>
        </p:spPr>
        <p:txBody>
          <a:bodyPr wrap="square" lIns="0" tIns="0" rIns="0" bIns="0" rtlCol="0" anchor="ctr"/>
          <a:lstStyle/>
          <a:p>
            <a:pPr marL="0" indent="0">
              <a:buNone/>
            </a:pPr>
            <a:r>
              <a:rPr lang="en-US" sz="1000" dirty="0">
                <a:solidFill>
                  <a:srgbClr val="6B6B6B"/>
                </a:solidFill>
                <a:latin typeface="Arial" pitchFamily="34" charset="0"/>
                <a:ea typeface="Arial" pitchFamily="34" charset="-122"/>
                <a:cs typeface="Arial" pitchFamily="34" charset="-120"/>
              </a:rPr>
              <a:t>Load dataset, examine structure, identify key variables, perform initial EDA</a:t>
            </a:r>
            <a:endParaRPr lang="en-US" sz="1000" dirty="0"/>
          </a:p>
        </p:txBody>
      </p:sp>
      <p:sp>
        <p:nvSpPr>
          <p:cNvPr id="9" name="Shape 7"/>
          <p:cNvSpPr/>
          <p:nvPr/>
        </p:nvSpPr>
        <p:spPr>
          <a:xfrm>
            <a:off x="3017520" y="1938528"/>
            <a:ext cx="182880" cy="0"/>
          </a:xfrm>
          <a:prstGeom prst="line">
            <a:avLst/>
          </a:prstGeom>
          <a:noFill/>
          <a:ln w="19050">
            <a:solidFill>
              <a:srgbClr val="76B82A"/>
            </a:solidFill>
            <a:prstDash val="solid"/>
          </a:ln>
        </p:spPr>
      </p:sp>
      <p:sp>
        <p:nvSpPr>
          <p:cNvPr id="10" name="Shape 8"/>
          <p:cNvSpPr/>
          <p:nvPr/>
        </p:nvSpPr>
        <p:spPr>
          <a:xfrm>
            <a:off x="3200400" y="1143000"/>
            <a:ext cx="2697480" cy="1600200"/>
          </a:xfrm>
          <a:prstGeom prst="roundRect">
            <a:avLst>
              <a:gd name="adj" fmla="val 5714"/>
            </a:avLst>
          </a:prstGeom>
          <a:solidFill>
            <a:srgbClr val="FFFFFF"/>
          </a:solidFill>
          <a:ln/>
          <a:effectLst>
            <a:outerShdw blurRad="101600" dist="38100" dir="2700000" algn="bl" rotWithShape="0">
              <a:srgbClr val="000000">
                <a:alpha val="12000"/>
              </a:srgbClr>
            </a:outerShdw>
          </a:effectLst>
        </p:spPr>
      </p:sp>
      <p:sp>
        <p:nvSpPr>
          <p:cNvPr id="11" name="Shape 9"/>
          <p:cNvSpPr/>
          <p:nvPr/>
        </p:nvSpPr>
        <p:spPr>
          <a:xfrm>
            <a:off x="3337560" y="1280160"/>
            <a:ext cx="502920" cy="502920"/>
          </a:xfrm>
          <a:prstGeom prst="ellipse">
            <a:avLst/>
          </a:prstGeom>
          <a:solidFill>
            <a:srgbClr val="76B82A"/>
          </a:solidFill>
          <a:ln/>
        </p:spPr>
      </p:sp>
      <p:sp>
        <p:nvSpPr>
          <p:cNvPr id="12" name="Text 10"/>
          <p:cNvSpPr/>
          <p:nvPr/>
        </p:nvSpPr>
        <p:spPr>
          <a:xfrm>
            <a:off x="3337560" y="1280160"/>
            <a:ext cx="50292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3931920" y="1307592"/>
            <a:ext cx="1828800" cy="365760"/>
          </a:xfrm>
          <a:prstGeom prst="rect">
            <a:avLst/>
          </a:prstGeom>
          <a:noFill/>
          <a:ln/>
        </p:spPr>
        <p:txBody>
          <a:bodyPr wrap="square" lIns="0" tIns="0" rIns="0" bIns="0" rtlCol="0" anchor="ctr"/>
          <a:lstStyle/>
          <a:p>
            <a:pPr marL="0" indent="0">
              <a:buNone/>
            </a:pPr>
            <a:r>
              <a:rPr lang="en-US" sz="1200" b="1" dirty="0">
                <a:solidFill>
                  <a:srgbClr val="3F6F12"/>
                </a:solidFill>
                <a:latin typeface="Arial" pitchFamily="34" charset="0"/>
                <a:ea typeface="Arial" pitchFamily="34" charset="-122"/>
                <a:cs typeface="Arial" pitchFamily="34" charset="-120"/>
              </a:rPr>
              <a:t>Data Cleaning</a:t>
            </a:r>
            <a:endParaRPr lang="en-US" sz="1200" dirty="0"/>
          </a:p>
        </p:txBody>
      </p:sp>
      <p:sp>
        <p:nvSpPr>
          <p:cNvPr id="14" name="Text 12"/>
          <p:cNvSpPr/>
          <p:nvPr/>
        </p:nvSpPr>
        <p:spPr>
          <a:xfrm>
            <a:off x="3337560" y="1874520"/>
            <a:ext cx="2423160" cy="731520"/>
          </a:xfrm>
          <a:prstGeom prst="rect">
            <a:avLst/>
          </a:prstGeom>
          <a:noFill/>
          <a:ln/>
        </p:spPr>
        <p:txBody>
          <a:bodyPr wrap="square" lIns="0" tIns="0" rIns="0" bIns="0" rtlCol="0" anchor="ctr"/>
          <a:lstStyle/>
          <a:p>
            <a:pPr marL="0" indent="0">
              <a:buNone/>
            </a:pPr>
            <a:r>
              <a:rPr lang="en-US" sz="1000" dirty="0">
                <a:solidFill>
                  <a:srgbClr val="6B6B6B"/>
                </a:solidFill>
                <a:latin typeface="Arial" pitchFamily="34" charset="0"/>
                <a:ea typeface="Arial" pitchFamily="34" charset="-122"/>
                <a:cs typeface="Arial" pitchFamily="34" charset="-120"/>
              </a:rPr>
              <a:t>Handle missing values, convert data types, standardize formats, create derived features</a:t>
            </a:r>
            <a:endParaRPr lang="en-US" sz="1000" dirty="0"/>
          </a:p>
        </p:txBody>
      </p:sp>
      <p:sp>
        <p:nvSpPr>
          <p:cNvPr id="15" name="Shape 13"/>
          <p:cNvSpPr/>
          <p:nvPr/>
        </p:nvSpPr>
        <p:spPr>
          <a:xfrm>
            <a:off x="5897880" y="1938528"/>
            <a:ext cx="182880" cy="0"/>
          </a:xfrm>
          <a:prstGeom prst="line">
            <a:avLst/>
          </a:prstGeom>
          <a:noFill/>
          <a:ln w="19050">
            <a:solidFill>
              <a:srgbClr val="76B82A"/>
            </a:solidFill>
            <a:prstDash val="solid"/>
          </a:ln>
        </p:spPr>
      </p:sp>
      <p:sp>
        <p:nvSpPr>
          <p:cNvPr id="16" name="Shape 14"/>
          <p:cNvSpPr/>
          <p:nvPr/>
        </p:nvSpPr>
        <p:spPr>
          <a:xfrm>
            <a:off x="6080760" y="1143000"/>
            <a:ext cx="2697480" cy="1600200"/>
          </a:xfrm>
          <a:prstGeom prst="roundRect">
            <a:avLst>
              <a:gd name="adj" fmla="val 5714"/>
            </a:avLst>
          </a:prstGeom>
          <a:solidFill>
            <a:srgbClr val="FFFFFF"/>
          </a:solidFill>
          <a:ln/>
          <a:effectLst>
            <a:outerShdw blurRad="101600" dist="38100" dir="2700000" algn="bl" rotWithShape="0">
              <a:srgbClr val="000000">
                <a:alpha val="12000"/>
              </a:srgbClr>
            </a:outerShdw>
          </a:effectLst>
        </p:spPr>
      </p:sp>
      <p:sp>
        <p:nvSpPr>
          <p:cNvPr id="17" name="Shape 15"/>
          <p:cNvSpPr/>
          <p:nvPr/>
        </p:nvSpPr>
        <p:spPr>
          <a:xfrm>
            <a:off x="6217920" y="1280160"/>
            <a:ext cx="502920" cy="502920"/>
          </a:xfrm>
          <a:prstGeom prst="ellipse">
            <a:avLst/>
          </a:prstGeom>
          <a:solidFill>
            <a:srgbClr val="5E9B1F"/>
          </a:solidFill>
          <a:ln/>
        </p:spPr>
      </p:sp>
      <p:sp>
        <p:nvSpPr>
          <p:cNvPr id="18" name="Text 16"/>
          <p:cNvSpPr/>
          <p:nvPr/>
        </p:nvSpPr>
        <p:spPr>
          <a:xfrm>
            <a:off x="6217920" y="1280160"/>
            <a:ext cx="50292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6812280" y="1307592"/>
            <a:ext cx="1828800" cy="365760"/>
          </a:xfrm>
          <a:prstGeom prst="rect">
            <a:avLst/>
          </a:prstGeom>
          <a:noFill/>
          <a:ln/>
        </p:spPr>
        <p:txBody>
          <a:bodyPr wrap="square" lIns="0" tIns="0" rIns="0" bIns="0" rtlCol="0" anchor="ctr"/>
          <a:lstStyle/>
          <a:p>
            <a:pPr marL="0" indent="0">
              <a:buNone/>
            </a:pPr>
            <a:r>
              <a:rPr lang="en-US" sz="1200" b="1" dirty="0">
                <a:solidFill>
                  <a:srgbClr val="3F6F12"/>
                </a:solidFill>
                <a:latin typeface="Arial" pitchFamily="34" charset="0"/>
                <a:ea typeface="Arial" pitchFamily="34" charset="-122"/>
                <a:cs typeface="Arial" pitchFamily="34" charset="-120"/>
              </a:rPr>
              <a:t>SQL Development</a:t>
            </a:r>
            <a:endParaRPr lang="en-US" sz="1200" dirty="0"/>
          </a:p>
        </p:txBody>
      </p:sp>
      <p:sp>
        <p:nvSpPr>
          <p:cNvPr id="20" name="Text 18"/>
          <p:cNvSpPr/>
          <p:nvPr/>
        </p:nvSpPr>
        <p:spPr>
          <a:xfrm>
            <a:off x="6217920" y="1874520"/>
            <a:ext cx="2423160" cy="731520"/>
          </a:xfrm>
          <a:prstGeom prst="rect">
            <a:avLst/>
          </a:prstGeom>
          <a:noFill/>
          <a:ln/>
        </p:spPr>
        <p:txBody>
          <a:bodyPr wrap="square" lIns="0" tIns="0" rIns="0" bIns="0" rtlCol="0" anchor="ctr"/>
          <a:lstStyle/>
          <a:p>
            <a:pPr marL="0" indent="0">
              <a:buNone/>
            </a:pPr>
            <a:r>
              <a:rPr lang="en-US" sz="1000" dirty="0">
                <a:solidFill>
                  <a:srgbClr val="6B6B6B"/>
                </a:solidFill>
                <a:latin typeface="Arial" pitchFamily="34" charset="0"/>
                <a:ea typeface="Arial" pitchFamily="34" charset="-122"/>
                <a:cs typeface="Arial" pitchFamily="34" charset="-120"/>
              </a:rPr>
              <a:t>Write optimized queries for ride trends, cancellations, ratings and revenue insights</a:t>
            </a:r>
            <a:endParaRPr lang="en-US" sz="1000" dirty="0"/>
          </a:p>
        </p:txBody>
      </p:sp>
      <p:sp>
        <p:nvSpPr>
          <p:cNvPr id="21" name="Shape 19"/>
          <p:cNvSpPr/>
          <p:nvPr/>
        </p:nvSpPr>
        <p:spPr>
          <a:xfrm>
            <a:off x="320040" y="2971800"/>
            <a:ext cx="2697480" cy="1600200"/>
          </a:xfrm>
          <a:prstGeom prst="roundRect">
            <a:avLst>
              <a:gd name="adj" fmla="val 5714"/>
            </a:avLst>
          </a:prstGeom>
          <a:solidFill>
            <a:srgbClr val="FFFFFF"/>
          </a:solidFill>
          <a:ln/>
          <a:effectLst>
            <a:outerShdw blurRad="101600" dist="38100" dir="2700000" algn="bl" rotWithShape="0">
              <a:srgbClr val="000000">
                <a:alpha val="12000"/>
              </a:srgbClr>
            </a:outerShdw>
          </a:effectLst>
        </p:spPr>
      </p:sp>
      <p:sp>
        <p:nvSpPr>
          <p:cNvPr id="22" name="Shape 20"/>
          <p:cNvSpPr/>
          <p:nvPr/>
        </p:nvSpPr>
        <p:spPr>
          <a:xfrm>
            <a:off x="457200" y="3108960"/>
            <a:ext cx="502920" cy="502920"/>
          </a:xfrm>
          <a:prstGeom prst="ellipse">
            <a:avLst/>
          </a:prstGeom>
          <a:solidFill>
            <a:srgbClr val="3F6F12"/>
          </a:solidFill>
          <a:ln/>
        </p:spPr>
      </p:sp>
      <p:sp>
        <p:nvSpPr>
          <p:cNvPr id="23" name="Text 21"/>
          <p:cNvSpPr/>
          <p:nvPr/>
        </p:nvSpPr>
        <p:spPr>
          <a:xfrm>
            <a:off x="457200" y="3108960"/>
            <a:ext cx="50292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2"/>
          <p:cNvSpPr/>
          <p:nvPr/>
        </p:nvSpPr>
        <p:spPr>
          <a:xfrm>
            <a:off x="1051560" y="3136392"/>
            <a:ext cx="1828800" cy="365760"/>
          </a:xfrm>
          <a:prstGeom prst="rect">
            <a:avLst/>
          </a:prstGeom>
          <a:noFill/>
          <a:ln/>
        </p:spPr>
        <p:txBody>
          <a:bodyPr wrap="square" lIns="0" tIns="0" rIns="0" bIns="0" rtlCol="0" anchor="ctr"/>
          <a:lstStyle/>
          <a:p>
            <a:pPr marL="0" indent="0">
              <a:buNone/>
            </a:pPr>
            <a:r>
              <a:rPr lang="en-US" sz="1200" b="1" dirty="0">
                <a:solidFill>
                  <a:srgbClr val="3F6F12"/>
                </a:solidFill>
                <a:latin typeface="Arial" pitchFamily="34" charset="0"/>
                <a:ea typeface="Arial" pitchFamily="34" charset="-122"/>
                <a:cs typeface="Arial" pitchFamily="34" charset="-120"/>
              </a:rPr>
              <a:t>Power BI Dashboard</a:t>
            </a:r>
            <a:endParaRPr lang="en-US" sz="1200" dirty="0"/>
          </a:p>
        </p:txBody>
      </p:sp>
      <p:sp>
        <p:nvSpPr>
          <p:cNvPr id="25" name="Text 23"/>
          <p:cNvSpPr/>
          <p:nvPr/>
        </p:nvSpPr>
        <p:spPr>
          <a:xfrm>
            <a:off x="457200" y="3703320"/>
            <a:ext cx="2423160" cy="731520"/>
          </a:xfrm>
          <a:prstGeom prst="rect">
            <a:avLst/>
          </a:prstGeom>
          <a:noFill/>
          <a:ln/>
        </p:spPr>
        <p:txBody>
          <a:bodyPr wrap="square" lIns="0" tIns="0" rIns="0" bIns="0" rtlCol="0" anchor="ctr"/>
          <a:lstStyle/>
          <a:p>
            <a:pPr marL="0" indent="0">
              <a:buNone/>
            </a:pPr>
            <a:r>
              <a:rPr lang="en-US" sz="1000" dirty="0">
                <a:solidFill>
                  <a:srgbClr val="6B6B6B"/>
                </a:solidFill>
                <a:latin typeface="Arial" pitchFamily="34" charset="0"/>
                <a:ea typeface="Arial" pitchFamily="34" charset="-122"/>
                <a:cs typeface="Arial" pitchFamily="34" charset="-120"/>
              </a:rPr>
              <a:t>Design interactive visualizations, KPIs, filters and slicers for business insights</a:t>
            </a:r>
            <a:endParaRPr lang="en-US" sz="1000" dirty="0"/>
          </a:p>
        </p:txBody>
      </p:sp>
      <p:sp>
        <p:nvSpPr>
          <p:cNvPr id="26" name="Shape 24"/>
          <p:cNvSpPr/>
          <p:nvPr/>
        </p:nvSpPr>
        <p:spPr>
          <a:xfrm>
            <a:off x="3017520" y="3767328"/>
            <a:ext cx="182880" cy="0"/>
          </a:xfrm>
          <a:prstGeom prst="line">
            <a:avLst/>
          </a:prstGeom>
          <a:noFill/>
          <a:ln w="19050">
            <a:solidFill>
              <a:srgbClr val="76B82A"/>
            </a:solidFill>
            <a:prstDash val="solid"/>
          </a:ln>
        </p:spPr>
      </p:sp>
      <p:sp>
        <p:nvSpPr>
          <p:cNvPr id="27" name="Shape 25"/>
          <p:cNvSpPr/>
          <p:nvPr/>
        </p:nvSpPr>
        <p:spPr>
          <a:xfrm>
            <a:off x="3200400" y="2971800"/>
            <a:ext cx="2697480" cy="1600200"/>
          </a:xfrm>
          <a:prstGeom prst="roundRect">
            <a:avLst>
              <a:gd name="adj" fmla="val 5714"/>
            </a:avLst>
          </a:prstGeom>
          <a:solidFill>
            <a:srgbClr val="FFFFFF"/>
          </a:solidFill>
          <a:ln/>
          <a:effectLst>
            <a:outerShdw blurRad="101600" dist="38100" dir="2700000" algn="bl" rotWithShape="0">
              <a:srgbClr val="000000">
                <a:alpha val="12000"/>
              </a:srgbClr>
            </a:outerShdw>
          </a:effectLst>
        </p:spPr>
      </p:sp>
      <p:sp>
        <p:nvSpPr>
          <p:cNvPr id="28" name="Shape 26"/>
          <p:cNvSpPr/>
          <p:nvPr/>
        </p:nvSpPr>
        <p:spPr>
          <a:xfrm>
            <a:off x="3337560" y="3108960"/>
            <a:ext cx="502920" cy="502920"/>
          </a:xfrm>
          <a:prstGeom prst="ellipse">
            <a:avLst/>
          </a:prstGeom>
          <a:solidFill>
            <a:srgbClr val="5E9B1F"/>
          </a:solidFill>
          <a:ln/>
        </p:spPr>
      </p:sp>
      <p:sp>
        <p:nvSpPr>
          <p:cNvPr id="29" name="Text 27"/>
          <p:cNvSpPr/>
          <p:nvPr/>
        </p:nvSpPr>
        <p:spPr>
          <a:xfrm>
            <a:off x="3337560" y="3108960"/>
            <a:ext cx="50292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0" name="Text 28"/>
          <p:cNvSpPr/>
          <p:nvPr/>
        </p:nvSpPr>
        <p:spPr>
          <a:xfrm>
            <a:off x="3931920" y="3136392"/>
            <a:ext cx="1828800" cy="365760"/>
          </a:xfrm>
          <a:prstGeom prst="rect">
            <a:avLst/>
          </a:prstGeom>
          <a:noFill/>
          <a:ln/>
        </p:spPr>
        <p:txBody>
          <a:bodyPr wrap="square" lIns="0" tIns="0" rIns="0" bIns="0" rtlCol="0" anchor="ctr"/>
          <a:lstStyle/>
          <a:p>
            <a:pPr marL="0" indent="0">
              <a:buNone/>
            </a:pPr>
            <a:r>
              <a:rPr lang="en-US" sz="1200" b="1" dirty="0">
                <a:solidFill>
                  <a:srgbClr val="3F6F12"/>
                </a:solidFill>
                <a:latin typeface="Arial" pitchFamily="34" charset="0"/>
                <a:ea typeface="Arial" pitchFamily="34" charset="-122"/>
                <a:cs typeface="Arial" pitchFamily="34" charset="-120"/>
              </a:rPr>
              <a:t>Streamlit App</a:t>
            </a:r>
            <a:endParaRPr lang="en-US" sz="1200" dirty="0"/>
          </a:p>
        </p:txBody>
      </p:sp>
      <p:sp>
        <p:nvSpPr>
          <p:cNvPr id="31" name="Text 29"/>
          <p:cNvSpPr/>
          <p:nvPr/>
        </p:nvSpPr>
        <p:spPr>
          <a:xfrm>
            <a:off x="3337560" y="3703320"/>
            <a:ext cx="2423160" cy="731520"/>
          </a:xfrm>
          <a:prstGeom prst="rect">
            <a:avLst/>
          </a:prstGeom>
          <a:noFill/>
          <a:ln/>
        </p:spPr>
        <p:txBody>
          <a:bodyPr wrap="square" lIns="0" tIns="0" rIns="0" bIns="0" rtlCol="0" anchor="ctr"/>
          <a:lstStyle/>
          <a:p>
            <a:pPr marL="0" indent="0">
              <a:buNone/>
            </a:pPr>
            <a:r>
              <a:rPr lang="en-US" sz="1000" dirty="0">
                <a:solidFill>
                  <a:srgbClr val="6B6B6B"/>
                </a:solidFill>
                <a:latin typeface="Arial" pitchFamily="34" charset="0"/>
                <a:ea typeface="Arial" pitchFamily="34" charset="-122"/>
                <a:cs typeface="Arial" pitchFamily="34" charset="-120"/>
              </a:rPr>
              <a:t>Build user-friendly UI with SQL results, interactive filters and Power BI embed</a:t>
            </a:r>
            <a:endParaRPr lang="en-US" sz="1000" dirty="0"/>
          </a:p>
        </p:txBody>
      </p:sp>
      <p:sp>
        <p:nvSpPr>
          <p:cNvPr id="32" name="Shape 30"/>
          <p:cNvSpPr/>
          <p:nvPr/>
        </p:nvSpPr>
        <p:spPr>
          <a:xfrm>
            <a:off x="5897880" y="3767328"/>
            <a:ext cx="182880" cy="0"/>
          </a:xfrm>
          <a:prstGeom prst="line">
            <a:avLst/>
          </a:prstGeom>
          <a:noFill/>
          <a:ln w="19050">
            <a:solidFill>
              <a:srgbClr val="76B82A"/>
            </a:solidFill>
            <a:prstDash val="solid"/>
          </a:ln>
        </p:spPr>
      </p:sp>
      <p:sp>
        <p:nvSpPr>
          <p:cNvPr id="33" name="Shape 31"/>
          <p:cNvSpPr/>
          <p:nvPr/>
        </p:nvSpPr>
        <p:spPr>
          <a:xfrm>
            <a:off x="6080760" y="2971800"/>
            <a:ext cx="2697480" cy="1600200"/>
          </a:xfrm>
          <a:prstGeom prst="roundRect">
            <a:avLst>
              <a:gd name="adj" fmla="val 5714"/>
            </a:avLst>
          </a:prstGeom>
          <a:solidFill>
            <a:srgbClr val="FFFFFF"/>
          </a:solidFill>
          <a:ln/>
          <a:effectLst>
            <a:outerShdw blurRad="101600" dist="38100" dir="2700000" algn="bl" rotWithShape="0">
              <a:srgbClr val="000000">
                <a:alpha val="12000"/>
              </a:srgbClr>
            </a:outerShdw>
          </a:effectLst>
        </p:spPr>
      </p:sp>
      <p:sp>
        <p:nvSpPr>
          <p:cNvPr id="34" name="Shape 32"/>
          <p:cNvSpPr/>
          <p:nvPr/>
        </p:nvSpPr>
        <p:spPr>
          <a:xfrm>
            <a:off x="6217920" y="3108960"/>
            <a:ext cx="502920" cy="502920"/>
          </a:xfrm>
          <a:prstGeom prst="ellipse">
            <a:avLst/>
          </a:prstGeom>
          <a:solidFill>
            <a:srgbClr val="3F6F12"/>
          </a:solidFill>
          <a:ln/>
        </p:spPr>
      </p:sp>
      <p:sp>
        <p:nvSpPr>
          <p:cNvPr id="35" name="Text 33"/>
          <p:cNvSpPr/>
          <p:nvPr/>
        </p:nvSpPr>
        <p:spPr>
          <a:xfrm>
            <a:off x="6217920" y="3108960"/>
            <a:ext cx="502920" cy="502920"/>
          </a:xfrm>
          <a:prstGeom prst="rect">
            <a:avLst/>
          </a:prstGeom>
          <a:no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6" name="Text 34"/>
          <p:cNvSpPr/>
          <p:nvPr/>
        </p:nvSpPr>
        <p:spPr>
          <a:xfrm>
            <a:off x="6812280" y="3136392"/>
            <a:ext cx="1828800" cy="365760"/>
          </a:xfrm>
          <a:prstGeom prst="rect">
            <a:avLst/>
          </a:prstGeom>
          <a:noFill/>
          <a:ln/>
        </p:spPr>
        <p:txBody>
          <a:bodyPr wrap="square" lIns="0" tIns="0" rIns="0" bIns="0" rtlCol="0" anchor="ctr"/>
          <a:lstStyle/>
          <a:p>
            <a:pPr marL="0" indent="0">
              <a:buNone/>
            </a:pPr>
            <a:r>
              <a:rPr lang="en-US" sz="1200" b="1" dirty="0">
                <a:solidFill>
                  <a:srgbClr val="3F6F12"/>
                </a:solidFill>
                <a:latin typeface="Arial" pitchFamily="34" charset="0"/>
                <a:ea typeface="Arial" pitchFamily="34" charset="-122"/>
                <a:cs typeface="Arial" pitchFamily="34" charset="-120"/>
              </a:rPr>
              <a:t>Documentation</a:t>
            </a:r>
            <a:endParaRPr lang="en-US" sz="1200" dirty="0"/>
          </a:p>
        </p:txBody>
      </p:sp>
      <p:sp>
        <p:nvSpPr>
          <p:cNvPr id="37" name="Text 35"/>
          <p:cNvSpPr/>
          <p:nvPr/>
        </p:nvSpPr>
        <p:spPr>
          <a:xfrm>
            <a:off x="6217920" y="3703320"/>
            <a:ext cx="2423160" cy="731520"/>
          </a:xfrm>
          <a:prstGeom prst="rect">
            <a:avLst/>
          </a:prstGeom>
          <a:noFill/>
          <a:ln/>
        </p:spPr>
        <p:txBody>
          <a:bodyPr wrap="square" lIns="0" tIns="0" rIns="0" bIns="0" rtlCol="0" anchor="ctr"/>
          <a:lstStyle/>
          <a:p>
            <a:pPr marL="0" indent="0">
              <a:buNone/>
            </a:pPr>
            <a:r>
              <a:rPr lang="en-US" sz="1000" dirty="0">
                <a:solidFill>
                  <a:srgbClr val="6B6B6B"/>
                </a:solidFill>
                <a:latin typeface="Arial" pitchFamily="34" charset="0"/>
                <a:ea typeface="Arial" pitchFamily="34" charset="-122"/>
                <a:cs typeface="Arial" pitchFamily="34" charset="-120"/>
              </a:rPr>
              <a:t>Document insights, queries, deploy app and present with business storytelling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5E9B1F"/>
          </a:solidFill>
          <a:ln/>
        </p:spPr>
      </p:sp>
      <p:sp>
        <p:nvSpPr>
          <p:cNvPr id="3" name="Text 1"/>
          <p:cNvSpPr/>
          <p:nvPr/>
        </p:nvSpPr>
        <p:spPr>
          <a:xfrm>
            <a:off x="457200" y="182880"/>
            <a:ext cx="8229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Data Understanding &amp; EDA</a:t>
            </a:r>
            <a:endParaRPr lang="en-US" sz="2800" dirty="0"/>
          </a:p>
        </p:txBody>
      </p:sp>
      <p:sp>
        <p:nvSpPr>
          <p:cNvPr id="4" name="Shape 2"/>
          <p:cNvSpPr/>
          <p:nvPr/>
        </p:nvSpPr>
        <p:spPr>
          <a:xfrm>
            <a:off x="365760" y="1097280"/>
            <a:ext cx="1920240" cy="1005840"/>
          </a:xfrm>
          <a:prstGeom prst="roundRect">
            <a:avLst>
              <a:gd name="adj" fmla="val 7273"/>
            </a:avLst>
          </a:prstGeom>
          <a:solidFill>
            <a:srgbClr val="3F6F12"/>
          </a:solidFill>
          <a:ln/>
          <a:effectLst>
            <a:outerShdw blurRad="101600" dist="38100" dir="2700000" algn="bl" rotWithShape="0">
              <a:srgbClr val="000000">
                <a:alpha val="12000"/>
              </a:srgbClr>
            </a:outerShdw>
          </a:effectLst>
        </p:spPr>
      </p:sp>
      <p:sp>
        <p:nvSpPr>
          <p:cNvPr id="5" name="Text 3"/>
          <p:cNvSpPr/>
          <p:nvPr/>
        </p:nvSpPr>
        <p:spPr>
          <a:xfrm>
            <a:off x="365760" y="1143000"/>
            <a:ext cx="1920240" cy="50292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1,03,024</a:t>
            </a:r>
            <a:endParaRPr lang="en-US" sz="2000" dirty="0"/>
          </a:p>
        </p:txBody>
      </p:sp>
      <p:sp>
        <p:nvSpPr>
          <p:cNvPr id="6" name="Text 4"/>
          <p:cNvSpPr/>
          <p:nvPr/>
        </p:nvSpPr>
        <p:spPr>
          <a:xfrm>
            <a:off x="365760" y="1645920"/>
            <a:ext cx="1920240" cy="320040"/>
          </a:xfrm>
          <a:prstGeom prst="rect">
            <a:avLst/>
          </a:prstGeom>
          <a:noFill/>
          <a:ln/>
        </p:spPr>
        <p:txBody>
          <a:bodyPr wrap="square" rtlCol="0" anchor="ctr"/>
          <a:lstStyle/>
          <a:p>
            <a:pPr marL="0" indent="0" algn="ctr">
              <a:buNone/>
            </a:pPr>
            <a:r>
              <a:rPr lang="en-US" sz="1000" dirty="0">
                <a:solidFill>
                  <a:srgbClr val="8DC63F"/>
                </a:solidFill>
                <a:latin typeface="Arial" pitchFamily="34" charset="0"/>
                <a:ea typeface="Arial" pitchFamily="34" charset="-122"/>
                <a:cs typeface="Arial" pitchFamily="34" charset="-120"/>
              </a:rPr>
              <a:t>Total Records</a:t>
            </a:r>
            <a:endParaRPr lang="en-US" sz="1000" dirty="0"/>
          </a:p>
        </p:txBody>
      </p:sp>
      <p:sp>
        <p:nvSpPr>
          <p:cNvPr id="7" name="Shape 5"/>
          <p:cNvSpPr/>
          <p:nvPr/>
        </p:nvSpPr>
        <p:spPr>
          <a:xfrm>
            <a:off x="2468880" y="1097280"/>
            <a:ext cx="1920240" cy="1005840"/>
          </a:xfrm>
          <a:prstGeom prst="roundRect">
            <a:avLst>
              <a:gd name="adj" fmla="val 7273"/>
            </a:avLst>
          </a:prstGeom>
          <a:solidFill>
            <a:srgbClr val="3F6F12"/>
          </a:solidFill>
          <a:ln/>
          <a:effectLst>
            <a:outerShdw blurRad="101600" dist="38100" dir="2700000" algn="bl" rotWithShape="0">
              <a:srgbClr val="000000">
                <a:alpha val="12000"/>
              </a:srgbClr>
            </a:outerShdw>
          </a:effectLst>
        </p:spPr>
      </p:sp>
      <p:sp>
        <p:nvSpPr>
          <p:cNvPr id="8" name="Text 6"/>
          <p:cNvSpPr/>
          <p:nvPr/>
        </p:nvSpPr>
        <p:spPr>
          <a:xfrm>
            <a:off x="2468880" y="1143000"/>
            <a:ext cx="1920240" cy="50292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19 Columns</a:t>
            </a:r>
            <a:endParaRPr lang="en-US" sz="2000" dirty="0"/>
          </a:p>
        </p:txBody>
      </p:sp>
      <p:sp>
        <p:nvSpPr>
          <p:cNvPr id="9" name="Text 7"/>
          <p:cNvSpPr/>
          <p:nvPr/>
        </p:nvSpPr>
        <p:spPr>
          <a:xfrm>
            <a:off x="2468880" y="1645920"/>
            <a:ext cx="1920240" cy="320040"/>
          </a:xfrm>
          <a:prstGeom prst="rect">
            <a:avLst/>
          </a:prstGeom>
          <a:noFill/>
          <a:ln/>
        </p:spPr>
        <p:txBody>
          <a:bodyPr wrap="square" rtlCol="0" anchor="ctr"/>
          <a:lstStyle/>
          <a:p>
            <a:pPr marL="0" indent="0" algn="ctr">
              <a:buNone/>
            </a:pPr>
            <a:r>
              <a:rPr lang="en-US" sz="1000" dirty="0">
                <a:solidFill>
                  <a:srgbClr val="8DC63F"/>
                </a:solidFill>
                <a:latin typeface="Arial" pitchFamily="34" charset="0"/>
                <a:ea typeface="Arial" pitchFamily="34" charset="-122"/>
                <a:cs typeface="Arial" pitchFamily="34" charset="-120"/>
              </a:rPr>
              <a:t>Features</a:t>
            </a:r>
            <a:endParaRPr lang="en-US" sz="1000" dirty="0"/>
          </a:p>
        </p:txBody>
      </p:sp>
      <p:sp>
        <p:nvSpPr>
          <p:cNvPr id="10" name="Shape 8"/>
          <p:cNvSpPr/>
          <p:nvPr/>
        </p:nvSpPr>
        <p:spPr>
          <a:xfrm>
            <a:off x="4572000" y="1097280"/>
            <a:ext cx="1920240" cy="1005840"/>
          </a:xfrm>
          <a:prstGeom prst="roundRect">
            <a:avLst>
              <a:gd name="adj" fmla="val 7273"/>
            </a:avLst>
          </a:prstGeom>
          <a:solidFill>
            <a:srgbClr val="3F6F12"/>
          </a:solidFill>
          <a:ln/>
          <a:effectLst>
            <a:outerShdw blurRad="101600" dist="38100" dir="2700000" algn="bl" rotWithShape="0">
              <a:srgbClr val="000000">
                <a:alpha val="12000"/>
              </a:srgbClr>
            </a:outerShdw>
          </a:effectLst>
        </p:spPr>
      </p:sp>
      <p:sp>
        <p:nvSpPr>
          <p:cNvPr id="11" name="Text 9"/>
          <p:cNvSpPr/>
          <p:nvPr/>
        </p:nvSpPr>
        <p:spPr>
          <a:xfrm>
            <a:off x="4572000" y="1143000"/>
            <a:ext cx="1920240" cy="50292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Jul 2024</a:t>
            </a:r>
            <a:endParaRPr lang="en-US" sz="2000" dirty="0"/>
          </a:p>
        </p:txBody>
      </p:sp>
      <p:sp>
        <p:nvSpPr>
          <p:cNvPr id="12" name="Text 10"/>
          <p:cNvSpPr/>
          <p:nvPr/>
        </p:nvSpPr>
        <p:spPr>
          <a:xfrm>
            <a:off x="4572000" y="1645920"/>
            <a:ext cx="1920240" cy="320040"/>
          </a:xfrm>
          <a:prstGeom prst="rect">
            <a:avLst/>
          </a:prstGeom>
          <a:noFill/>
          <a:ln/>
        </p:spPr>
        <p:txBody>
          <a:bodyPr wrap="square" rtlCol="0" anchor="ctr"/>
          <a:lstStyle/>
          <a:p>
            <a:pPr marL="0" indent="0" algn="ctr">
              <a:buNone/>
            </a:pPr>
            <a:r>
              <a:rPr lang="en-US" sz="1000" dirty="0">
                <a:solidFill>
                  <a:srgbClr val="8DC63F"/>
                </a:solidFill>
                <a:latin typeface="Arial" pitchFamily="34" charset="0"/>
                <a:ea typeface="Arial" pitchFamily="34" charset="-122"/>
                <a:cs typeface="Arial" pitchFamily="34" charset="-120"/>
              </a:rPr>
              <a:t>Date Range</a:t>
            </a:r>
            <a:endParaRPr lang="en-US" sz="1000" dirty="0"/>
          </a:p>
        </p:txBody>
      </p:sp>
      <p:sp>
        <p:nvSpPr>
          <p:cNvPr id="13" name="Shape 11"/>
          <p:cNvSpPr/>
          <p:nvPr/>
        </p:nvSpPr>
        <p:spPr>
          <a:xfrm>
            <a:off x="6675120" y="1097280"/>
            <a:ext cx="1920240" cy="1005840"/>
          </a:xfrm>
          <a:prstGeom prst="roundRect">
            <a:avLst>
              <a:gd name="adj" fmla="val 7273"/>
            </a:avLst>
          </a:prstGeom>
          <a:solidFill>
            <a:srgbClr val="3F6F12"/>
          </a:solidFill>
          <a:ln/>
          <a:effectLst>
            <a:outerShdw blurRad="101600" dist="38100" dir="2700000" algn="bl" rotWithShape="0">
              <a:srgbClr val="000000">
                <a:alpha val="12000"/>
              </a:srgbClr>
            </a:outerShdw>
          </a:effectLst>
        </p:spPr>
      </p:sp>
      <p:sp>
        <p:nvSpPr>
          <p:cNvPr id="14" name="Text 12"/>
          <p:cNvSpPr/>
          <p:nvPr/>
        </p:nvSpPr>
        <p:spPr>
          <a:xfrm>
            <a:off x="6675120" y="1143000"/>
            <a:ext cx="1920240" cy="50292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7 Types</a:t>
            </a:r>
            <a:endParaRPr lang="en-US" sz="2000" dirty="0"/>
          </a:p>
        </p:txBody>
      </p:sp>
      <p:sp>
        <p:nvSpPr>
          <p:cNvPr id="15" name="Text 13"/>
          <p:cNvSpPr/>
          <p:nvPr/>
        </p:nvSpPr>
        <p:spPr>
          <a:xfrm>
            <a:off x="6675120" y="1645920"/>
            <a:ext cx="1920240" cy="320040"/>
          </a:xfrm>
          <a:prstGeom prst="rect">
            <a:avLst/>
          </a:prstGeom>
          <a:noFill/>
          <a:ln/>
        </p:spPr>
        <p:txBody>
          <a:bodyPr wrap="square" rtlCol="0" anchor="ctr"/>
          <a:lstStyle/>
          <a:p>
            <a:pPr marL="0" indent="0" algn="ctr">
              <a:buNone/>
            </a:pPr>
            <a:r>
              <a:rPr lang="en-US" sz="1000" dirty="0">
                <a:solidFill>
                  <a:srgbClr val="8DC63F"/>
                </a:solidFill>
                <a:latin typeface="Arial" pitchFamily="34" charset="0"/>
                <a:ea typeface="Arial" pitchFamily="34" charset="-122"/>
                <a:cs typeface="Arial" pitchFamily="34" charset="-120"/>
              </a:rPr>
              <a:t>Vehicle Types</a:t>
            </a:r>
            <a:endParaRPr lang="en-US" sz="1000" dirty="0"/>
          </a:p>
        </p:txBody>
      </p:sp>
      <p:sp>
        <p:nvSpPr>
          <p:cNvPr id="16" name="Text 14"/>
          <p:cNvSpPr/>
          <p:nvPr/>
        </p:nvSpPr>
        <p:spPr>
          <a:xfrm>
            <a:off x="365760" y="2331720"/>
            <a:ext cx="4114800" cy="365760"/>
          </a:xfrm>
          <a:prstGeom prst="rect">
            <a:avLst/>
          </a:prstGeom>
          <a:noFill/>
          <a:ln/>
        </p:spPr>
        <p:txBody>
          <a:bodyPr wrap="square" rtlCol="0" anchor="ctr"/>
          <a:lstStyle/>
          <a:p>
            <a:pPr marL="0" indent="0">
              <a:buNone/>
            </a:pPr>
            <a:r>
              <a:rPr lang="en-US" sz="1500" b="1" dirty="0">
                <a:solidFill>
                  <a:srgbClr val="3F6F12"/>
                </a:solidFill>
                <a:latin typeface="Arial" pitchFamily="34" charset="0"/>
                <a:ea typeface="Arial" pitchFamily="34" charset="-122"/>
                <a:cs typeface="Arial" pitchFamily="34" charset="-120"/>
              </a:rPr>
              <a:t>Key Variables Identified</a:t>
            </a:r>
            <a:endParaRPr lang="en-US" sz="1500" dirty="0"/>
          </a:p>
        </p:txBody>
      </p:sp>
      <p:sp>
        <p:nvSpPr>
          <p:cNvPr id="17" name="Text 15"/>
          <p:cNvSpPr/>
          <p:nvPr/>
        </p:nvSpPr>
        <p:spPr>
          <a:xfrm>
            <a:off x="365760" y="2743200"/>
            <a:ext cx="3931920" cy="2103120"/>
          </a:xfrm>
          <a:prstGeom prst="rect">
            <a:avLst/>
          </a:prstGeom>
          <a:noFill/>
          <a:ln/>
        </p:spPr>
        <p:txBody>
          <a:bodyPr wrap="square" rtlCol="0" anchor="ctr"/>
          <a:lstStyle/>
          <a:p>
            <a:pPr marL="342900" indent="-342900">
              <a:buSzPct val="100000"/>
              <a:buChar char="•"/>
            </a:pPr>
            <a:r>
              <a:rPr lang="en-US" sz="1100" dirty="0">
                <a:solidFill>
                  <a:srgbClr val="6B6B6B"/>
                </a:solidFill>
                <a:latin typeface="Arial" pitchFamily="34" charset="0"/>
                <a:ea typeface="Arial" pitchFamily="34" charset="-122"/>
                <a:cs typeface="Arial" pitchFamily="34" charset="-120"/>
              </a:rPr>
              <a:t>Booking_ID, Date, Time</a:t>
            </a:r>
            <a:endParaRPr lang="en-US" sz="1100" dirty="0"/>
          </a:p>
          <a:p>
            <a:pPr marL="342900" indent="-342900">
              <a:buSzPct val="100000"/>
              <a:buChar char="•"/>
            </a:pPr>
            <a:r>
              <a:rPr lang="en-US" sz="1100" dirty="0">
                <a:solidFill>
                  <a:srgbClr val="6B6B6B"/>
                </a:solidFill>
                <a:latin typeface="Arial" pitchFamily="34" charset="0"/>
                <a:ea typeface="Arial" pitchFamily="34" charset="-122"/>
                <a:cs typeface="Arial" pitchFamily="34" charset="-120"/>
              </a:rPr>
              <a:t>Booking_Status (Success/Cancelled)</a:t>
            </a:r>
            <a:endParaRPr lang="en-US" sz="1100" dirty="0"/>
          </a:p>
          <a:p>
            <a:pPr marL="342900" indent="-342900">
              <a:buSzPct val="100000"/>
              <a:buChar char="•"/>
            </a:pPr>
            <a:r>
              <a:rPr lang="en-US" sz="1100" dirty="0">
                <a:solidFill>
                  <a:srgbClr val="6B6B6B"/>
                </a:solidFill>
                <a:latin typeface="Arial" pitchFamily="34" charset="0"/>
                <a:ea typeface="Arial" pitchFamily="34" charset="-122"/>
                <a:cs typeface="Arial" pitchFamily="34" charset="-120"/>
              </a:rPr>
              <a:t>Vehicle_Type (7 categories)</a:t>
            </a:r>
            <a:endParaRPr lang="en-US" sz="1100" dirty="0"/>
          </a:p>
          <a:p>
            <a:pPr marL="342900" indent="-342900">
              <a:buSzPct val="100000"/>
              <a:buChar char="•"/>
            </a:pPr>
            <a:r>
              <a:rPr lang="en-US" sz="1100" dirty="0">
                <a:solidFill>
                  <a:srgbClr val="6B6B6B"/>
                </a:solidFill>
                <a:latin typeface="Arial" pitchFamily="34" charset="0"/>
                <a:ea typeface="Arial" pitchFamily="34" charset="-122"/>
                <a:cs typeface="Arial" pitchFamily="34" charset="-120"/>
              </a:rPr>
              <a:t>Payment_Method</a:t>
            </a:r>
            <a:endParaRPr lang="en-US" sz="1100" dirty="0"/>
          </a:p>
          <a:p>
            <a:pPr marL="342900" indent="-342900">
              <a:buSzPct val="100000"/>
              <a:buChar char="•"/>
            </a:pPr>
            <a:r>
              <a:rPr lang="en-US" sz="1100" dirty="0">
                <a:solidFill>
                  <a:srgbClr val="6B6B6B"/>
                </a:solidFill>
                <a:latin typeface="Arial" pitchFamily="34" charset="0"/>
                <a:ea typeface="Arial" pitchFamily="34" charset="-122"/>
                <a:cs typeface="Arial" pitchFamily="34" charset="-120"/>
              </a:rPr>
              <a:t>Ride_Distance, Booking_Value</a:t>
            </a:r>
            <a:endParaRPr lang="en-US" sz="1100" dirty="0"/>
          </a:p>
          <a:p>
            <a:pPr marL="342900" indent="-342900">
              <a:buSzPct val="100000"/>
              <a:buChar char="•"/>
            </a:pPr>
            <a:r>
              <a:rPr lang="en-US" sz="1100" dirty="0">
                <a:solidFill>
                  <a:srgbClr val="6B6B6B"/>
                </a:solidFill>
                <a:latin typeface="Arial" pitchFamily="34" charset="0"/>
                <a:ea typeface="Arial" pitchFamily="34" charset="-122"/>
                <a:cs typeface="Arial" pitchFamily="34" charset="-120"/>
              </a:rPr>
              <a:t>Driver_Ratings, Customer_Rating</a:t>
            </a:r>
            <a:endParaRPr lang="en-US" sz="1100" dirty="0"/>
          </a:p>
          <a:p>
            <a:pPr marL="342900" indent="-342900">
              <a:buSzPct val="100000"/>
              <a:buChar char="•"/>
            </a:pPr>
            <a:r>
              <a:rPr lang="en-US" sz="1100" dirty="0">
                <a:solidFill>
                  <a:srgbClr val="6B6B6B"/>
                </a:solidFill>
                <a:latin typeface="Arial" pitchFamily="34" charset="0"/>
                <a:ea typeface="Arial" pitchFamily="34" charset="-122"/>
                <a:cs typeface="Arial" pitchFamily="34" charset="-120"/>
              </a:rPr>
              <a:t>Pickup &amp; Drop Location</a:t>
            </a:r>
            <a:endParaRPr lang="en-US" sz="1100" dirty="0"/>
          </a:p>
          <a:p>
            <a:pPr marL="342900" indent="-342900">
              <a:buSzPct val="100000"/>
              <a:buChar char="•"/>
            </a:pPr>
            <a:r>
              <a:rPr lang="en-US" sz="1100" dirty="0">
                <a:solidFill>
                  <a:srgbClr val="6B6B6B"/>
                </a:solidFill>
                <a:latin typeface="Arial" pitchFamily="34" charset="0"/>
                <a:ea typeface="Arial" pitchFamily="34" charset="-122"/>
                <a:cs typeface="Arial" pitchFamily="34" charset="-120"/>
              </a:rPr>
              <a:t>Canceled_Rides_by_Customer/Driver</a:t>
            </a:r>
            <a:endParaRPr lang="en-US" sz="1100" dirty="0"/>
          </a:p>
          <a:p>
            <a:pPr marL="0" indent="0">
              <a:buNone/>
            </a:pPr>
            <a:endParaRPr lang="en-US" sz="1100" dirty="0"/>
          </a:p>
        </p:txBody>
      </p:sp>
      <p:sp>
        <p:nvSpPr>
          <p:cNvPr id="18" name="Text 16"/>
          <p:cNvSpPr/>
          <p:nvPr/>
        </p:nvSpPr>
        <p:spPr>
          <a:xfrm>
            <a:off x="4754880" y="2331720"/>
            <a:ext cx="4114800" cy="365760"/>
          </a:xfrm>
          <a:prstGeom prst="rect">
            <a:avLst/>
          </a:prstGeom>
          <a:noFill/>
          <a:ln/>
        </p:spPr>
        <p:txBody>
          <a:bodyPr wrap="square" rtlCol="0" anchor="ctr"/>
          <a:lstStyle/>
          <a:p>
            <a:pPr marL="0" indent="0">
              <a:buNone/>
            </a:pPr>
            <a:r>
              <a:rPr lang="en-US" sz="1500" b="1" dirty="0">
                <a:solidFill>
                  <a:srgbClr val="3F6F12"/>
                </a:solidFill>
                <a:latin typeface="Arial" pitchFamily="34" charset="0"/>
                <a:ea typeface="Arial" pitchFamily="34" charset="-122"/>
                <a:cs typeface="Arial" pitchFamily="34" charset="-120"/>
              </a:rPr>
              <a:t>EDA Findings</a:t>
            </a:r>
            <a:endParaRPr lang="en-US" sz="1500" dirty="0"/>
          </a:p>
        </p:txBody>
      </p:sp>
      <p:sp>
        <p:nvSpPr>
          <p:cNvPr id="19" name="Text 17"/>
          <p:cNvSpPr/>
          <p:nvPr/>
        </p:nvSpPr>
        <p:spPr>
          <a:xfrm>
            <a:off x="4754880" y="2743200"/>
            <a:ext cx="4114800" cy="2103120"/>
          </a:xfrm>
          <a:prstGeom prst="rect">
            <a:avLst/>
          </a:prstGeom>
          <a:noFill/>
          <a:ln/>
        </p:spPr>
        <p:txBody>
          <a:bodyPr wrap="square" rtlCol="0" anchor="ctr"/>
          <a:lstStyle/>
          <a:p>
            <a:pPr marL="342900" indent="-342900">
              <a:buSzPct val="100000"/>
              <a:buChar char="•"/>
            </a:pPr>
            <a:r>
              <a:rPr lang="en-US" sz="1100" dirty="0">
                <a:solidFill>
                  <a:srgbClr val="6B6B6B"/>
                </a:solidFill>
                <a:latin typeface="Arial" pitchFamily="34" charset="0"/>
                <a:ea typeface="Arial" pitchFamily="34" charset="-122"/>
                <a:cs typeface="Arial" pitchFamily="34" charset="-120"/>
              </a:rPr>
              <a:t>62% Success Rate, 38% Cancellation Rate</a:t>
            </a:r>
            <a:endParaRPr lang="en-US" sz="1100" dirty="0"/>
          </a:p>
          <a:p>
            <a:pPr marL="342900" indent="-342900">
              <a:buSzPct val="100000"/>
              <a:buChar char="•"/>
            </a:pPr>
            <a:r>
              <a:rPr lang="en-US" sz="1100" dirty="0">
                <a:solidFill>
                  <a:srgbClr val="6B6B6B"/>
                </a:solidFill>
                <a:latin typeface="Arial" pitchFamily="34" charset="0"/>
                <a:ea typeface="Arial" pitchFamily="34" charset="-122"/>
                <a:cs typeface="Arial" pitchFamily="34" charset="-120"/>
              </a:rPr>
              <a:t>All 7 vehicle types have similar booking volumes</a:t>
            </a:r>
            <a:endParaRPr lang="en-US" sz="1100" dirty="0"/>
          </a:p>
          <a:p>
            <a:pPr marL="342900" indent="-342900">
              <a:buSzPct val="100000"/>
              <a:buChar char="•"/>
            </a:pPr>
            <a:r>
              <a:rPr lang="en-US" sz="1100" dirty="0">
                <a:solidFill>
                  <a:srgbClr val="6B6B6B"/>
                </a:solidFill>
                <a:latin typeface="Arial" pitchFamily="34" charset="0"/>
                <a:ea typeface="Arial" pitchFamily="34" charset="-122"/>
                <a:cs typeface="Arial" pitchFamily="34" charset="-120"/>
              </a:rPr>
              <a:t>Average ride distance ~15 km</a:t>
            </a:r>
            <a:endParaRPr lang="en-US" sz="1100" dirty="0"/>
          </a:p>
          <a:p>
            <a:pPr marL="342900" indent="-342900">
              <a:buSzPct val="100000"/>
              <a:buChar char="•"/>
            </a:pPr>
            <a:r>
              <a:rPr lang="en-US" sz="1100" dirty="0">
                <a:solidFill>
                  <a:srgbClr val="6B6B6B"/>
                </a:solidFill>
                <a:latin typeface="Arial" pitchFamily="34" charset="0"/>
                <a:ea typeface="Arial" pitchFamily="34" charset="-122"/>
                <a:cs typeface="Arial" pitchFamily="34" charset="-120"/>
              </a:rPr>
              <a:t>Driver &amp; customer ratings avg ~3.0</a:t>
            </a:r>
            <a:endParaRPr lang="en-US" sz="1100" dirty="0"/>
          </a:p>
          <a:p>
            <a:pPr marL="342900" indent="-342900">
              <a:buSzPct val="100000"/>
              <a:buChar char="•"/>
            </a:pPr>
            <a:r>
              <a:rPr lang="en-US" sz="1100" dirty="0">
                <a:solidFill>
                  <a:srgbClr val="6B6B6B"/>
                </a:solidFill>
                <a:latin typeface="Arial" pitchFamily="34" charset="0"/>
                <a:ea typeface="Arial" pitchFamily="34" charset="-122"/>
                <a:cs typeface="Arial" pitchFamily="34" charset="-120"/>
              </a:rPr>
              <a:t>Peak bookings in evening hours</a:t>
            </a:r>
            <a:endParaRPr lang="en-US" sz="1100" dirty="0"/>
          </a:p>
          <a:p>
            <a:pPr marL="342900" indent="-342900">
              <a:buSzPct val="100000"/>
              <a:buChar char="•"/>
            </a:pPr>
            <a:r>
              <a:rPr lang="en-US" sz="1100" dirty="0">
                <a:solidFill>
                  <a:srgbClr val="6B6B6B"/>
                </a:solidFill>
                <a:latin typeface="Arial" pitchFamily="34" charset="0"/>
                <a:ea typeface="Arial" pitchFamily="34" charset="-122"/>
                <a:cs typeface="Arial" pitchFamily="34" charset="-120"/>
              </a:rPr>
              <a:t>UPI &amp; Cash are top payment methods</a:t>
            </a:r>
            <a:endParaRPr lang="en-US" sz="1100" dirty="0"/>
          </a:p>
          <a:p>
            <a:pPr marL="342900" indent="-342900">
              <a:buSzPct val="100000"/>
              <a:buChar char="•"/>
            </a:pPr>
            <a:r>
              <a:rPr lang="en-US" sz="1100" dirty="0">
                <a:solidFill>
                  <a:srgbClr val="6B6B6B"/>
                </a:solidFill>
                <a:latin typeface="Arial" pitchFamily="34" charset="0"/>
                <a:ea typeface="Arial" pitchFamily="34" charset="-122"/>
                <a:cs typeface="Arial" pitchFamily="34" charset="-120"/>
              </a:rPr>
              <a:t>Missing values in ratings &amp; cancel reasons</a:t>
            </a:r>
            <a:endParaRPr lang="en-US" sz="1100" dirty="0"/>
          </a:p>
          <a:p>
            <a:pPr marL="0" indent="0">
              <a:buNone/>
            </a:pP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F6F12"/>
          </a:solidFill>
          <a:ln/>
        </p:spPr>
      </p:sp>
      <p:sp>
        <p:nvSpPr>
          <p:cNvPr id="3" name="Text 1"/>
          <p:cNvSpPr/>
          <p:nvPr/>
        </p:nvSpPr>
        <p:spPr>
          <a:xfrm>
            <a:off x="457200" y="182880"/>
            <a:ext cx="8229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Data Cleaning &amp; Preprocessing</a:t>
            </a:r>
            <a:endParaRPr lang="en-US" sz="2800" dirty="0"/>
          </a:p>
        </p:txBody>
      </p:sp>
      <p:sp>
        <p:nvSpPr>
          <p:cNvPr id="4" name="Shape 2"/>
          <p:cNvSpPr/>
          <p:nvPr/>
        </p:nvSpPr>
        <p:spPr>
          <a:xfrm>
            <a:off x="320040" y="1097280"/>
            <a:ext cx="2697480" cy="3840480"/>
          </a:xfrm>
          <a:prstGeom prst="roundRect">
            <a:avLst>
              <a:gd name="adj" fmla="val 3390"/>
            </a:avLst>
          </a:prstGeom>
          <a:solidFill>
            <a:srgbClr val="FFFFFF"/>
          </a:solidFill>
          <a:ln w="12700">
            <a:solidFill>
              <a:srgbClr val="8DC63F"/>
            </a:solidFill>
            <a:prstDash val="solid"/>
          </a:ln>
          <a:effectLst>
            <a:outerShdw blurRad="101600" dist="38100" dir="2700000" algn="bl" rotWithShape="0">
              <a:srgbClr val="000000">
                <a:alpha val="12000"/>
              </a:srgbClr>
            </a:outerShdw>
          </a:effectLst>
        </p:spPr>
      </p:sp>
      <p:sp>
        <p:nvSpPr>
          <p:cNvPr id="5" name="Shape 3"/>
          <p:cNvSpPr/>
          <p:nvPr/>
        </p:nvSpPr>
        <p:spPr>
          <a:xfrm>
            <a:off x="320040" y="1097280"/>
            <a:ext cx="2697480" cy="502920"/>
          </a:xfrm>
          <a:prstGeom prst="roundRect">
            <a:avLst>
              <a:gd name="adj" fmla="val 18182"/>
            </a:avLst>
          </a:prstGeom>
          <a:solidFill>
            <a:srgbClr val="5E9B1F"/>
          </a:solidFill>
          <a:ln/>
        </p:spPr>
      </p:sp>
      <p:sp>
        <p:nvSpPr>
          <p:cNvPr id="6" name="Text 4"/>
          <p:cNvSpPr/>
          <p:nvPr/>
        </p:nvSpPr>
        <p:spPr>
          <a:xfrm>
            <a:off x="411480" y="1124712"/>
            <a:ext cx="2514600" cy="45720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Missing Value Treatment</a:t>
            </a:r>
            <a:endParaRPr lang="en-US" sz="1200" dirty="0"/>
          </a:p>
        </p:txBody>
      </p:sp>
      <p:sp>
        <p:nvSpPr>
          <p:cNvPr id="7" name="Text 5"/>
          <p:cNvSpPr/>
          <p:nvPr/>
        </p:nvSpPr>
        <p:spPr>
          <a:xfrm>
            <a:off x="411480" y="1691640"/>
            <a:ext cx="2514600" cy="3108960"/>
          </a:xfrm>
          <a:prstGeom prst="rect">
            <a:avLst/>
          </a:prstGeom>
          <a:noFill/>
          <a:ln/>
        </p:spPr>
        <p:txBody>
          <a:bodyPr wrap="square" rtlCol="0" anchor="ctr"/>
          <a:lstStyle/>
          <a:p>
            <a:pPr marL="342900" indent="-342900">
              <a:buSzPct val="100000"/>
              <a:buChar char="•"/>
            </a:pPr>
            <a:r>
              <a:rPr lang="en-US" sz="1000" dirty="0">
                <a:solidFill>
                  <a:srgbClr val="6B6B6B"/>
                </a:solidFill>
                <a:latin typeface="Arial" pitchFamily="34" charset="0"/>
                <a:ea typeface="Arial" pitchFamily="34" charset="-122"/>
                <a:cs typeface="Arial" pitchFamily="34" charset="-120"/>
              </a:rPr>
              <a:t>V_TAT &amp; C_TAT → filled with column mean</a:t>
            </a:r>
            <a:endParaRPr lang="en-US" sz="1000" dirty="0"/>
          </a:p>
          <a:p>
            <a:pPr marL="342900" indent="-342900">
              <a:buSzPct val="100000"/>
              <a:buChar char="•"/>
            </a:pPr>
            <a:r>
              <a:rPr lang="en-US" sz="1000" dirty="0">
                <a:solidFill>
                  <a:srgbClr val="6B6B6B"/>
                </a:solidFill>
                <a:latin typeface="Arial" pitchFamily="34" charset="0"/>
                <a:ea typeface="Arial" pitchFamily="34" charset="-122"/>
                <a:cs typeface="Arial" pitchFamily="34" charset="-120"/>
              </a:rPr>
              <a:t>Canceled_Rides_by_Customer → filled with 'No'</a:t>
            </a:r>
            <a:endParaRPr lang="en-US" sz="1000" dirty="0"/>
          </a:p>
          <a:p>
            <a:pPr marL="342900" indent="-342900">
              <a:buSzPct val="100000"/>
              <a:buChar char="•"/>
            </a:pPr>
            <a:r>
              <a:rPr lang="en-US" sz="1000" dirty="0">
                <a:solidFill>
                  <a:srgbClr val="6B6B6B"/>
                </a:solidFill>
                <a:latin typeface="Arial" pitchFamily="34" charset="0"/>
                <a:ea typeface="Arial" pitchFamily="34" charset="-122"/>
                <a:cs typeface="Arial" pitchFamily="34" charset="-120"/>
              </a:rPr>
              <a:t>Canceled_Rides_by_Driver → filled with 'No'</a:t>
            </a:r>
            <a:endParaRPr lang="en-US" sz="1000" dirty="0"/>
          </a:p>
          <a:p>
            <a:pPr marL="342900" indent="-342900">
              <a:buSzPct val="100000"/>
              <a:buChar char="•"/>
            </a:pPr>
            <a:r>
              <a:rPr lang="en-US" sz="1000" dirty="0">
                <a:solidFill>
                  <a:srgbClr val="6B6B6B"/>
                </a:solidFill>
                <a:latin typeface="Arial" pitchFamily="34" charset="0"/>
                <a:ea typeface="Arial" pitchFamily="34" charset="-122"/>
                <a:cs typeface="Arial" pitchFamily="34" charset="-120"/>
              </a:rPr>
              <a:t>Incomplete_Rides → filled with 'No'</a:t>
            </a:r>
            <a:endParaRPr lang="en-US" sz="1000" dirty="0"/>
          </a:p>
          <a:p>
            <a:pPr marL="342900" indent="-342900">
              <a:buSzPct val="100000"/>
              <a:buChar char="•"/>
            </a:pPr>
            <a:r>
              <a:rPr lang="en-US" sz="1000" dirty="0">
                <a:solidFill>
                  <a:srgbClr val="6B6B6B"/>
                </a:solidFill>
                <a:latin typeface="Arial" pitchFamily="34" charset="0"/>
                <a:ea typeface="Arial" pitchFamily="34" charset="-122"/>
                <a:cs typeface="Arial" pitchFamily="34" charset="-120"/>
              </a:rPr>
              <a:t>Payment_Method → filled with 'Not Applicable'</a:t>
            </a:r>
            <a:endParaRPr lang="en-US" sz="1000" dirty="0"/>
          </a:p>
          <a:p>
            <a:pPr marL="342900" indent="-342900">
              <a:buSzPct val="100000"/>
              <a:buChar char="•"/>
            </a:pPr>
            <a:r>
              <a:rPr lang="en-US" sz="1000" dirty="0">
                <a:solidFill>
                  <a:srgbClr val="6B6B6B"/>
                </a:solidFill>
                <a:latin typeface="Arial" pitchFamily="34" charset="0"/>
                <a:ea typeface="Arial" pitchFamily="34" charset="-122"/>
                <a:cs typeface="Arial" pitchFamily="34" charset="-120"/>
              </a:rPr>
              <a:t>Driver/Customer Ratings → filled with 0</a:t>
            </a:r>
            <a:endParaRPr lang="en-US" sz="1000" dirty="0"/>
          </a:p>
          <a:p>
            <a:pPr marL="0" indent="0">
              <a:buNone/>
            </a:pPr>
            <a:endParaRPr lang="en-US" sz="1000" dirty="0"/>
          </a:p>
        </p:txBody>
      </p:sp>
      <p:sp>
        <p:nvSpPr>
          <p:cNvPr id="8" name="Shape 6"/>
          <p:cNvSpPr/>
          <p:nvPr/>
        </p:nvSpPr>
        <p:spPr>
          <a:xfrm>
            <a:off x="3200400" y="1097280"/>
            <a:ext cx="2697480" cy="3840480"/>
          </a:xfrm>
          <a:prstGeom prst="roundRect">
            <a:avLst>
              <a:gd name="adj" fmla="val 3390"/>
            </a:avLst>
          </a:prstGeom>
          <a:solidFill>
            <a:srgbClr val="FFFFFF"/>
          </a:solidFill>
          <a:ln w="12700">
            <a:solidFill>
              <a:srgbClr val="8DC63F"/>
            </a:solidFill>
            <a:prstDash val="solid"/>
          </a:ln>
          <a:effectLst>
            <a:outerShdw blurRad="101600" dist="38100" dir="2700000" algn="bl" rotWithShape="0">
              <a:srgbClr val="000000">
                <a:alpha val="12000"/>
              </a:srgbClr>
            </a:outerShdw>
          </a:effectLst>
        </p:spPr>
      </p:sp>
      <p:sp>
        <p:nvSpPr>
          <p:cNvPr id="9" name="Shape 7"/>
          <p:cNvSpPr/>
          <p:nvPr/>
        </p:nvSpPr>
        <p:spPr>
          <a:xfrm>
            <a:off x="3200400" y="1097280"/>
            <a:ext cx="2697480" cy="502920"/>
          </a:xfrm>
          <a:prstGeom prst="roundRect">
            <a:avLst>
              <a:gd name="adj" fmla="val 18182"/>
            </a:avLst>
          </a:prstGeom>
          <a:solidFill>
            <a:srgbClr val="5E9B1F"/>
          </a:solidFill>
          <a:ln/>
        </p:spPr>
      </p:sp>
      <p:sp>
        <p:nvSpPr>
          <p:cNvPr id="10" name="Text 8"/>
          <p:cNvSpPr/>
          <p:nvPr/>
        </p:nvSpPr>
        <p:spPr>
          <a:xfrm>
            <a:off x="3291840" y="1124712"/>
            <a:ext cx="2514600" cy="45720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Data Type Conversion</a:t>
            </a:r>
            <a:endParaRPr lang="en-US" sz="1200" dirty="0"/>
          </a:p>
        </p:txBody>
      </p:sp>
      <p:sp>
        <p:nvSpPr>
          <p:cNvPr id="11" name="Text 9"/>
          <p:cNvSpPr/>
          <p:nvPr/>
        </p:nvSpPr>
        <p:spPr>
          <a:xfrm>
            <a:off x="3291840" y="1691640"/>
            <a:ext cx="2514600" cy="3108960"/>
          </a:xfrm>
          <a:prstGeom prst="rect">
            <a:avLst/>
          </a:prstGeom>
          <a:noFill/>
          <a:ln/>
        </p:spPr>
        <p:txBody>
          <a:bodyPr wrap="square" rtlCol="0" anchor="ctr"/>
          <a:lstStyle/>
          <a:p>
            <a:pPr marL="342900" indent="-342900">
              <a:buSzPct val="100000"/>
              <a:buChar char="•"/>
            </a:pPr>
            <a:r>
              <a:rPr lang="en-US" sz="1000" dirty="0">
                <a:solidFill>
                  <a:srgbClr val="6B6B6B"/>
                </a:solidFill>
                <a:latin typeface="Arial" pitchFamily="34" charset="0"/>
                <a:ea typeface="Arial" pitchFamily="34" charset="-122"/>
                <a:cs typeface="Arial" pitchFamily="34" charset="-120"/>
              </a:rPr>
              <a:t>Time column → converted to datetime format</a:t>
            </a:r>
            <a:endParaRPr lang="en-US" sz="1000" dirty="0"/>
          </a:p>
          <a:p>
            <a:pPr marL="342900" indent="-342900">
              <a:buSzPct val="100000"/>
              <a:buChar char="•"/>
            </a:pPr>
            <a:r>
              <a:rPr lang="en-US" sz="1000" dirty="0">
                <a:solidFill>
                  <a:srgbClr val="6B6B6B"/>
                </a:solidFill>
                <a:latin typeface="Arial" pitchFamily="34" charset="0"/>
                <a:ea typeface="Arial" pitchFamily="34" charset="-122"/>
                <a:cs typeface="Arial" pitchFamily="34" charset="-120"/>
              </a:rPr>
              <a:t>Date column → extracted Ride_Date (date only)</a:t>
            </a:r>
            <a:endParaRPr lang="en-US" sz="1000" dirty="0"/>
          </a:p>
          <a:p>
            <a:pPr marL="342900" indent="-342900">
              <a:buSzPct val="100000"/>
              <a:buChar char="•"/>
            </a:pPr>
            <a:r>
              <a:rPr lang="en-US" sz="1000" dirty="0">
                <a:solidFill>
                  <a:srgbClr val="6B6B6B"/>
                </a:solidFill>
                <a:latin typeface="Arial" pitchFamily="34" charset="0"/>
                <a:ea typeface="Arial" pitchFamily="34" charset="-122"/>
                <a:cs typeface="Arial" pitchFamily="34" charset="-120"/>
              </a:rPr>
              <a:t>Ride_Hour → extracted from Time for peak analysis</a:t>
            </a:r>
            <a:endParaRPr lang="en-US" sz="1000" dirty="0"/>
          </a:p>
          <a:p>
            <a:pPr marL="342900" indent="-342900">
              <a:buSzPct val="100000"/>
              <a:buChar char="•"/>
            </a:pPr>
            <a:r>
              <a:rPr lang="en-US" sz="1000" dirty="0">
                <a:solidFill>
                  <a:srgbClr val="6B6B6B"/>
                </a:solidFill>
                <a:latin typeface="Arial" pitchFamily="34" charset="0"/>
                <a:ea typeface="Arial" pitchFamily="34" charset="-122"/>
                <a:cs typeface="Arial" pitchFamily="34" charset="-120"/>
              </a:rPr>
              <a:t>Ride_Day → day name from Date column</a:t>
            </a:r>
            <a:endParaRPr lang="en-US" sz="1000" dirty="0"/>
          </a:p>
          <a:p>
            <a:pPr marL="342900" indent="-342900">
              <a:buSzPct val="100000"/>
              <a:buChar char="•"/>
            </a:pPr>
            <a:r>
              <a:rPr lang="en-US" sz="1000" dirty="0">
                <a:solidFill>
                  <a:srgbClr val="6B6B6B"/>
                </a:solidFill>
                <a:latin typeface="Arial" pitchFamily="34" charset="0"/>
                <a:ea typeface="Arial" pitchFamily="34" charset="-122"/>
                <a:cs typeface="Arial" pitchFamily="34" charset="-120"/>
              </a:rPr>
              <a:t>Ride_Month → month name from Date column</a:t>
            </a:r>
            <a:endParaRPr lang="en-US" sz="1000" dirty="0"/>
          </a:p>
          <a:p>
            <a:pPr marL="342900" indent="-342900">
              <a:buSzPct val="100000"/>
              <a:buChar char="•"/>
            </a:pPr>
            <a:r>
              <a:rPr lang="en-US" sz="1000" dirty="0">
                <a:solidFill>
                  <a:srgbClr val="6B6B6B"/>
                </a:solidFill>
                <a:latin typeface="Arial" pitchFamily="34" charset="0"/>
                <a:ea typeface="Arial" pitchFamily="34" charset="-122"/>
                <a:cs typeface="Arial" pitchFamily="34" charset="-120"/>
              </a:rPr>
              <a:t>Is_Weekend → boolean flag from Date</a:t>
            </a:r>
            <a:endParaRPr lang="en-US" sz="1000" dirty="0"/>
          </a:p>
          <a:p>
            <a:pPr marL="0" indent="0">
              <a:buNone/>
            </a:pPr>
            <a:endParaRPr lang="en-US" sz="1000" dirty="0"/>
          </a:p>
        </p:txBody>
      </p:sp>
      <p:sp>
        <p:nvSpPr>
          <p:cNvPr id="12" name="Shape 10"/>
          <p:cNvSpPr/>
          <p:nvPr/>
        </p:nvSpPr>
        <p:spPr>
          <a:xfrm>
            <a:off x="6080760" y="1097280"/>
            <a:ext cx="2697480" cy="3840480"/>
          </a:xfrm>
          <a:prstGeom prst="roundRect">
            <a:avLst>
              <a:gd name="adj" fmla="val 3390"/>
            </a:avLst>
          </a:prstGeom>
          <a:solidFill>
            <a:srgbClr val="FFFFFF"/>
          </a:solidFill>
          <a:ln w="12700">
            <a:solidFill>
              <a:srgbClr val="8DC63F"/>
            </a:solidFill>
            <a:prstDash val="solid"/>
          </a:ln>
          <a:effectLst>
            <a:outerShdw blurRad="101600" dist="38100" dir="2700000" algn="bl" rotWithShape="0">
              <a:srgbClr val="000000">
                <a:alpha val="12000"/>
              </a:srgbClr>
            </a:outerShdw>
          </a:effectLst>
        </p:spPr>
      </p:sp>
      <p:sp>
        <p:nvSpPr>
          <p:cNvPr id="13" name="Shape 11"/>
          <p:cNvSpPr/>
          <p:nvPr/>
        </p:nvSpPr>
        <p:spPr>
          <a:xfrm>
            <a:off x="6080760" y="1097280"/>
            <a:ext cx="2697480" cy="502920"/>
          </a:xfrm>
          <a:prstGeom prst="roundRect">
            <a:avLst>
              <a:gd name="adj" fmla="val 18182"/>
            </a:avLst>
          </a:prstGeom>
          <a:solidFill>
            <a:srgbClr val="5E9B1F"/>
          </a:solidFill>
          <a:ln/>
        </p:spPr>
      </p:sp>
      <p:sp>
        <p:nvSpPr>
          <p:cNvPr id="14" name="Text 12"/>
          <p:cNvSpPr/>
          <p:nvPr/>
        </p:nvSpPr>
        <p:spPr>
          <a:xfrm>
            <a:off x="6172200" y="1124712"/>
            <a:ext cx="2514600" cy="457200"/>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Feature Engineering</a:t>
            </a:r>
            <a:endParaRPr lang="en-US" sz="1200" dirty="0"/>
          </a:p>
        </p:txBody>
      </p:sp>
      <p:sp>
        <p:nvSpPr>
          <p:cNvPr id="15" name="Text 13"/>
          <p:cNvSpPr/>
          <p:nvPr/>
        </p:nvSpPr>
        <p:spPr>
          <a:xfrm>
            <a:off x="6172200" y="1691640"/>
            <a:ext cx="2514600" cy="3108960"/>
          </a:xfrm>
          <a:prstGeom prst="rect">
            <a:avLst/>
          </a:prstGeom>
          <a:noFill/>
          <a:ln/>
        </p:spPr>
        <p:txBody>
          <a:bodyPr wrap="square" rtlCol="0" anchor="ctr"/>
          <a:lstStyle/>
          <a:p>
            <a:pPr marL="342900" indent="-342900">
              <a:buSzPct val="100000"/>
              <a:buChar char="•"/>
            </a:pPr>
            <a:r>
              <a:rPr lang="en-US" sz="1000" dirty="0">
                <a:solidFill>
                  <a:srgbClr val="6B6B6B"/>
                </a:solidFill>
                <a:latin typeface="Arial" pitchFamily="34" charset="0"/>
                <a:ea typeface="Arial" pitchFamily="34" charset="-122"/>
                <a:cs typeface="Arial" pitchFamily="34" charset="-120"/>
              </a:rPr>
              <a:t>Ride_Hour: peak hour identification</a:t>
            </a:r>
            <a:endParaRPr lang="en-US" sz="1000" dirty="0"/>
          </a:p>
          <a:p>
            <a:pPr marL="342900" indent="-342900">
              <a:buSzPct val="100000"/>
              <a:buChar char="•"/>
            </a:pPr>
            <a:r>
              <a:rPr lang="en-US" sz="1000" dirty="0">
                <a:solidFill>
                  <a:srgbClr val="6B6B6B"/>
                </a:solidFill>
                <a:latin typeface="Arial" pitchFamily="34" charset="0"/>
                <a:ea typeface="Arial" pitchFamily="34" charset="-122"/>
                <a:cs typeface="Arial" pitchFamily="34" charset="-120"/>
              </a:rPr>
              <a:t>Ride_Day: weekday vs weekend analysis</a:t>
            </a:r>
            <a:endParaRPr lang="en-US" sz="1000" dirty="0"/>
          </a:p>
          <a:p>
            <a:pPr marL="342900" indent="-342900">
              <a:buSzPct val="100000"/>
              <a:buChar char="•"/>
            </a:pPr>
            <a:r>
              <a:rPr lang="en-US" sz="1000" dirty="0">
                <a:solidFill>
                  <a:srgbClr val="6B6B6B"/>
                </a:solidFill>
                <a:latin typeface="Arial" pitchFamily="34" charset="0"/>
                <a:ea typeface="Arial" pitchFamily="34" charset="-122"/>
                <a:cs typeface="Arial" pitchFamily="34" charset="-120"/>
              </a:rPr>
              <a:t>Ride_Month: monthly trend analysis</a:t>
            </a:r>
            <a:endParaRPr lang="en-US" sz="1000" dirty="0"/>
          </a:p>
          <a:p>
            <a:pPr marL="342900" indent="-342900">
              <a:buSzPct val="100000"/>
              <a:buChar char="•"/>
            </a:pPr>
            <a:r>
              <a:rPr lang="en-US" sz="1000" dirty="0">
                <a:solidFill>
                  <a:srgbClr val="6B6B6B"/>
                </a:solidFill>
                <a:latin typeface="Arial" pitchFamily="34" charset="0"/>
                <a:ea typeface="Arial" pitchFamily="34" charset="-122"/>
                <a:cs typeface="Arial" pitchFamily="34" charset="-120"/>
              </a:rPr>
              <a:t>Is_Weekend: boolean for weekend rides</a:t>
            </a:r>
            <a:endParaRPr lang="en-US" sz="1000" dirty="0"/>
          </a:p>
          <a:p>
            <a:pPr marL="342900" indent="-342900">
              <a:buSzPct val="100000"/>
              <a:buChar char="•"/>
            </a:pPr>
            <a:r>
              <a:rPr lang="en-US" sz="1000" dirty="0">
                <a:solidFill>
                  <a:srgbClr val="6B6B6B"/>
                </a:solidFill>
                <a:latin typeface="Arial" pitchFamily="34" charset="0"/>
                <a:ea typeface="Arial" pitchFamily="34" charset="-122"/>
                <a:cs typeface="Arial" pitchFamily="34" charset="-120"/>
              </a:rPr>
              <a:t>Success_Rate: derived booking success %</a:t>
            </a:r>
            <a:endParaRPr lang="en-US" sz="1000" dirty="0"/>
          </a:p>
          <a:p>
            <a:pPr marL="342900" indent="-342900">
              <a:buSzPct val="100000"/>
              <a:buChar char="•"/>
            </a:pPr>
            <a:r>
              <a:rPr lang="en-US" sz="1000" dirty="0">
                <a:solidFill>
                  <a:srgbClr val="6B6B6B"/>
                </a:solidFill>
                <a:latin typeface="Arial" pitchFamily="34" charset="0"/>
                <a:ea typeface="Arial" pitchFamily="34" charset="-122"/>
                <a:cs typeface="Arial" pitchFamily="34" charset="-120"/>
              </a:rPr>
              <a:t>Vehicle_Image_URL: for Power BI visuals</a:t>
            </a:r>
            <a:endParaRPr lang="en-US" sz="1000" dirty="0"/>
          </a:p>
          <a:p>
            <a:pPr marL="0" indent="0">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3F6F12"/>
          </a:solidFill>
          <a:ln/>
        </p:spPr>
      </p:sp>
      <p:sp>
        <p:nvSpPr>
          <p:cNvPr id="3" name="Text 1"/>
          <p:cNvSpPr/>
          <p:nvPr/>
        </p:nvSpPr>
        <p:spPr>
          <a:xfrm>
            <a:off x="457200" y="182880"/>
            <a:ext cx="8229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Power BI Dashboard</a:t>
            </a:r>
            <a:endParaRPr lang="en-US" sz="2800" dirty="0"/>
          </a:p>
        </p:txBody>
      </p:sp>
      <p:sp>
        <p:nvSpPr>
          <p:cNvPr id="4" name="Shape 2"/>
          <p:cNvSpPr/>
          <p:nvPr/>
        </p:nvSpPr>
        <p:spPr>
          <a:xfrm>
            <a:off x="365760" y="1143000"/>
            <a:ext cx="2606040" cy="1508760"/>
          </a:xfrm>
          <a:prstGeom prst="roundRect">
            <a:avLst>
              <a:gd name="adj" fmla="val 6061"/>
            </a:avLst>
          </a:prstGeom>
          <a:solidFill>
            <a:srgbClr val="FFFFFF"/>
          </a:solidFill>
          <a:ln/>
          <a:effectLst>
            <a:outerShdw blurRad="101600" dist="38100" dir="2700000" algn="bl" rotWithShape="0">
              <a:srgbClr val="000000">
                <a:alpha val="12000"/>
              </a:srgbClr>
            </a:outerShdw>
          </a:effectLst>
        </p:spPr>
      </p:sp>
      <p:sp>
        <p:nvSpPr>
          <p:cNvPr id="5" name="Shape 3"/>
          <p:cNvSpPr/>
          <p:nvPr/>
        </p:nvSpPr>
        <p:spPr>
          <a:xfrm>
            <a:off x="365760" y="1143000"/>
            <a:ext cx="2606040" cy="457200"/>
          </a:xfrm>
          <a:prstGeom prst="roundRect">
            <a:avLst>
              <a:gd name="adj" fmla="val 20000"/>
            </a:avLst>
          </a:prstGeom>
          <a:solidFill>
            <a:srgbClr val="3F6F12"/>
          </a:solidFill>
          <a:ln/>
        </p:spPr>
      </p:sp>
      <p:sp>
        <p:nvSpPr>
          <p:cNvPr id="6" name="Text 4"/>
          <p:cNvSpPr/>
          <p:nvPr/>
        </p:nvSpPr>
        <p:spPr>
          <a:xfrm>
            <a:off x="365760" y="1188720"/>
            <a:ext cx="260604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Overall</a:t>
            </a:r>
            <a:endParaRPr lang="en-US" sz="1300" dirty="0"/>
          </a:p>
        </p:txBody>
      </p:sp>
      <p:sp>
        <p:nvSpPr>
          <p:cNvPr id="7" name="Text 5"/>
          <p:cNvSpPr/>
          <p:nvPr/>
        </p:nvSpPr>
        <p:spPr>
          <a:xfrm>
            <a:off x="457200" y="1691640"/>
            <a:ext cx="2423160" cy="868680"/>
          </a:xfrm>
          <a:prstGeom prst="rect">
            <a:avLst/>
          </a:prstGeom>
          <a:noFill/>
          <a:ln/>
        </p:spPr>
        <p:txBody>
          <a:bodyPr wrap="square" lIns="0" tIns="0" rIns="0" bIns="0" rtlCol="0" anchor="ctr"/>
          <a:lstStyle/>
          <a:p>
            <a:pPr marL="0" indent="0">
              <a:buNone/>
            </a:pPr>
            <a:r>
              <a:rPr lang="en-US" sz="1000" dirty="0">
                <a:solidFill>
                  <a:srgbClr val="6B6B6B"/>
                </a:solidFill>
                <a:latin typeface="Arial" pitchFamily="34" charset="0"/>
                <a:ea typeface="Arial" pitchFamily="34" charset="-122"/>
                <a:cs typeface="Arial" pitchFamily="34" charset="-120"/>
              </a:rPr>
              <a:t>KPIs, ride volume trend, booking status donut</a:t>
            </a:r>
            <a:endParaRPr lang="en-US" sz="1000" dirty="0"/>
          </a:p>
        </p:txBody>
      </p:sp>
      <p:sp>
        <p:nvSpPr>
          <p:cNvPr id="8" name="Shape 6"/>
          <p:cNvSpPr/>
          <p:nvPr/>
        </p:nvSpPr>
        <p:spPr>
          <a:xfrm>
            <a:off x="3200400" y="1143000"/>
            <a:ext cx="2606040" cy="1508760"/>
          </a:xfrm>
          <a:prstGeom prst="roundRect">
            <a:avLst>
              <a:gd name="adj" fmla="val 6061"/>
            </a:avLst>
          </a:prstGeom>
          <a:solidFill>
            <a:srgbClr val="FFFFFF"/>
          </a:solidFill>
          <a:ln/>
          <a:effectLst>
            <a:outerShdw blurRad="101600" dist="38100" dir="2700000" algn="bl" rotWithShape="0">
              <a:srgbClr val="000000">
                <a:alpha val="12000"/>
              </a:srgbClr>
            </a:outerShdw>
          </a:effectLst>
        </p:spPr>
      </p:sp>
      <p:sp>
        <p:nvSpPr>
          <p:cNvPr id="9" name="Shape 7"/>
          <p:cNvSpPr/>
          <p:nvPr/>
        </p:nvSpPr>
        <p:spPr>
          <a:xfrm>
            <a:off x="3200400" y="1143000"/>
            <a:ext cx="2606040" cy="457200"/>
          </a:xfrm>
          <a:prstGeom prst="roundRect">
            <a:avLst>
              <a:gd name="adj" fmla="val 20000"/>
            </a:avLst>
          </a:prstGeom>
          <a:solidFill>
            <a:srgbClr val="5E9B1F"/>
          </a:solidFill>
          <a:ln/>
        </p:spPr>
      </p:sp>
      <p:sp>
        <p:nvSpPr>
          <p:cNvPr id="10" name="Text 8"/>
          <p:cNvSpPr/>
          <p:nvPr/>
        </p:nvSpPr>
        <p:spPr>
          <a:xfrm>
            <a:off x="3200400" y="1188720"/>
            <a:ext cx="260604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Vehicle Type</a:t>
            </a:r>
            <a:endParaRPr lang="en-US" sz="1300" dirty="0"/>
          </a:p>
        </p:txBody>
      </p:sp>
      <p:sp>
        <p:nvSpPr>
          <p:cNvPr id="11" name="Text 9"/>
          <p:cNvSpPr/>
          <p:nvPr/>
        </p:nvSpPr>
        <p:spPr>
          <a:xfrm>
            <a:off x="3291840" y="1691640"/>
            <a:ext cx="2423160" cy="868680"/>
          </a:xfrm>
          <a:prstGeom prst="rect">
            <a:avLst/>
          </a:prstGeom>
          <a:noFill/>
          <a:ln/>
        </p:spPr>
        <p:txBody>
          <a:bodyPr wrap="square" lIns="0" tIns="0" rIns="0" bIns="0" rtlCol="0" anchor="ctr"/>
          <a:lstStyle/>
          <a:p>
            <a:pPr marL="0" indent="0">
              <a:buNone/>
            </a:pPr>
            <a:r>
              <a:rPr lang="en-US" sz="1000" dirty="0">
                <a:solidFill>
                  <a:srgbClr val="6B6B6B"/>
                </a:solidFill>
                <a:latin typeface="Arial" pitchFamily="34" charset="0"/>
                <a:ea typeface="Arial" pitchFamily="34" charset="-122"/>
                <a:cs typeface="Arial" pitchFamily="34" charset="-120"/>
              </a:rPr>
              <a:t>Table visuals vehicle images, metrics table</a:t>
            </a:r>
            <a:endParaRPr lang="en-US" sz="1000" dirty="0"/>
          </a:p>
        </p:txBody>
      </p:sp>
      <p:sp>
        <p:nvSpPr>
          <p:cNvPr id="12" name="Shape 10"/>
          <p:cNvSpPr/>
          <p:nvPr/>
        </p:nvSpPr>
        <p:spPr>
          <a:xfrm>
            <a:off x="6035040" y="1143000"/>
            <a:ext cx="2606040" cy="1508760"/>
          </a:xfrm>
          <a:prstGeom prst="roundRect">
            <a:avLst>
              <a:gd name="adj" fmla="val 6061"/>
            </a:avLst>
          </a:prstGeom>
          <a:solidFill>
            <a:srgbClr val="FFFFFF"/>
          </a:solidFill>
          <a:ln/>
          <a:effectLst>
            <a:outerShdw blurRad="101600" dist="38100" dir="2700000" algn="bl" rotWithShape="0">
              <a:srgbClr val="000000">
                <a:alpha val="12000"/>
              </a:srgbClr>
            </a:outerShdw>
          </a:effectLst>
        </p:spPr>
      </p:sp>
      <p:sp>
        <p:nvSpPr>
          <p:cNvPr id="13" name="Shape 11"/>
          <p:cNvSpPr/>
          <p:nvPr/>
        </p:nvSpPr>
        <p:spPr>
          <a:xfrm>
            <a:off x="6035040" y="1143000"/>
            <a:ext cx="2606040" cy="457200"/>
          </a:xfrm>
          <a:prstGeom prst="roundRect">
            <a:avLst>
              <a:gd name="adj" fmla="val 20000"/>
            </a:avLst>
          </a:prstGeom>
          <a:solidFill>
            <a:srgbClr val="76B82A"/>
          </a:solidFill>
          <a:ln/>
        </p:spPr>
      </p:sp>
      <p:sp>
        <p:nvSpPr>
          <p:cNvPr id="14" name="Text 12"/>
          <p:cNvSpPr/>
          <p:nvPr/>
        </p:nvSpPr>
        <p:spPr>
          <a:xfrm>
            <a:off x="6035040" y="1188720"/>
            <a:ext cx="260604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Revenue</a:t>
            </a:r>
            <a:endParaRPr lang="en-US" sz="1300" dirty="0"/>
          </a:p>
        </p:txBody>
      </p:sp>
      <p:sp>
        <p:nvSpPr>
          <p:cNvPr id="15" name="Text 13"/>
          <p:cNvSpPr/>
          <p:nvPr/>
        </p:nvSpPr>
        <p:spPr>
          <a:xfrm>
            <a:off x="6126480" y="1691640"/>
            <a:ext cx="2423160" cy="868680"/>
          </a:xfrm>
          <a:prstGeom prst="rect">
            <a:avLst/>
          </a:prstGeom>
          <a:noFill/>
          <a:ln/>
        </p:spPr>
        <p:txBody>
          <a:bodyPr wrap="square" lIns="0" tIns="0" rIns="0" bIns="0" rtlCol="0" anchor="ctr"/>
          <a:lstStyle/>
          <a:p>
            <a:pPr marL="0" indent="0">
              <a:buNone/>
            </a:pPr>
            <a:r>
              <a:rPr lang="en-US" sz="1000" dirty="0">
                <a:solidFill>
                  <a:srgbClr val="6B6B6B"/>
                </a:solidFill>
                <a:latin typeface="Arial" pitchFamily="34" charset="0"/>
                <a:ea typeface="Arial" pitchFamily="34" charset="-122"/>
                <a:cs typeface="Arial" pitchFamily="34" charset="-120"/>
              </a:rPr>
              <a:t>Payment method bar, top 5 customers, distance distribution</a:t>
            </a:r>
            <a:endParaRPr lang="en-US" sz="1000" dirty="0"/>
          </a:p>
        </p:txBody>
      </p:sp>
      <p:sp>
        <p:nvSpPr>
          <p:cNvPr id="16" name="Shape 14"/>
          <p:cNvSpPr/>
          <p:nvPr/>
        </p:nvSpPr>
        <p:spPr>
          <a:xfrm>
            <a:off x="365760" y="2834640"/>
            <a:ext cx="2606040" cy="1508760"/>
          </a:xfrm>
          <a:prstGeom prst="roundRect">
            <a:avLst>
              <a:gd name="adj" fmla="val 6061"/>
            </a:avLst>
          </a:prstGeom>
          <a:solidFill>
            <a:srgbClr val="FFFFFF"/>
          </a:solidFill>
          <a:ln/>
          <a:effectLst>
            <a:outerShdw blurRad="101600" dist="38100" dir="2700000" algn="bl" rotWithShape="0">
              <a:srgbClr val="000000">
                <a:alpha val="12000"/>
              </a:srgbClr>
            </a:outerShdw>
          </a:effectLst>
        </p:spPr>
      </p:sp>
      <p:sp>
        <p:nvSpPr>
          <p:cNvPr id="17" name="Shape 15"/>
          <p:cNvSpPr/>
          <p:nvPr/>
        </p:nvSpPr>
        <p:spPr>
          <a:xfrm>
            <a:off x="365760" y="2834640"/>
            <a:ext cx="2606040" cy="457200"/>
          </a:xfrm>
          <a:prstGeom prst="roundRect">
            <a:avLst>
              <a:gd name="adj" fmla="val 20000"/>
            </a:avLst>
          </a:prstGeom>
          <a:solidFill>
            <a:srgbClr val="8DC63F"/>
          </a:solidFill>
          <a:ln/>
        </p:spPr>
      </p:sp>
      <p:sp>
        <p:nvSpPr>
          <p:cNvPr id="18" name="Text 16"/>
          <p:cNvSpPr/>
          <p:nvPr/>
        </p:nvSpPr>
        <p:spPr>
          <a:xfrm>
            <a:off x="365760" y="2880360"/>
            <a:ext cx="260604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Cancellation</a:t>
            </a:r>
            <a:endParaRPr lang="en-US" sz="1300" dirty="0"/>
          </a:p>
        </p:txBody>
      </p:sp>
      <p:sp>
        <p:nvSpPr>
          <p:cNvPr id="19" name="Text 17"/>
          <p:cNvSpPr/>
          <p:nvPr/>
        </p:nvSpPr>
        <p:spPr>
          <a:xfrm>
            <a:off x="457200" y="3383280"/>
            <a:ext cx="2423160" cy="868680"/>
          </a:xfrm>
          <a:prstGeom prst="rect">
            <a:avLst/>
          </a:prstGeom>
          <a:noFill/>
          <a:ln/>
        </p:spPr>
        <p:txBody>
          <a:bodyPr wrap="square" lIns="0" tIns="0" rIns="0" bIns="0" rtlCol="0" anchor="ctr"/>
          <a:lstStyle/>
          <a:p>
            <a:pPr marL="0" indent="0">
              <a:buNone/>
            </a:pPr>
            <a:r>
              <a:rPr lang="en-US" sz="1000" dirty="0">
                <a:solidFill>
                  <a:srgbClr val="6B6B6B"/>
                </a:solidFill>
                <a:latin typeface="Arial" pitchFamily="34" charset="0"/>
                <a:ea typeface="Arial" pitchFamily="34" charset="-122"/>
                <a:cs typeface="Arial" pitchFamily="34" charset="-120"/>
              </a:rPr>
              <a:t>Cancel reasons donuts, trend line, by vehicle &amp; time</a:t>
            </a:r>
            <a:endParaRPr lang="en-US" sz="1000" dirty="0"/>
          </a:p>
        </p:txBody>
      </p:sp>
      <p:sp>
        <p:nvSpPr>
          <p:cNvPr id="20" name="Shape 18"/>
          <p:cNvSpPr/>
          <p:nvPr/>
        </p:nvSpPr>
        <p:spPr>
          <a:xfrm>
            <a:off x="3200400" y="2834640"/>
            <a:ext cx="2606040" cy="1508760"/>
          </a:xfrm>
          <a:prstGeom prst="roundRect">
            <a:avLst>
              <a:gd name="adj" fmla="val 6061"/>
            </a:avLst>
          </a:prstGeom>
          <a:solidFill>
            <a:srgbClr val="FFFFFF"/>
          </a:solidFill>
          <a:ln/>
          <a:effectLst>
            <a:outerShdw blurRad="101600" dist="38100" dir="2700000" algn="bl" rotWithShape="0">
              <a:srgbClr val="000000">
                <a:alpha val="12000"/>
              </a:srgbClr>
            </a:outerShdw>
          </a:effectLst>
        </p:spPr>
      </p:sp>
      <p:sp>
        <p:nvSpPr>
          <p:cNvPr id="21" name="Shape 19"/>
          <p:cNvSpPr/>
          <p:nvPr/>
        </p:nvSpPr>
        <p:spPr>
          <a:xfrm>
            <a:off x="3200400" y="2834640"/>
            <a:ext cx="2606040" cy="457200"/>
          </a:xfrm>
          <a:prstGeom prst="roundRect">
            <a:avLst>
              <a:gd name="adj" fmla="val 20000"/>
            </a:avLst>
          </a:prstGeom>
          <a:solidFill>
            <a:srgbClr val="5E9B1F"/>
          </a:solidFill>
          <a:ln/>
        </p:spPr>
      </p:sp>
      <p:sp>
        <p:nvSpPr>
          <p:cNvPr id="22" name="Text 20"/>
          <p:cNvSpPr/>
          <p:nvPr/>
        </p:nvSpPr>
        <p:spPr>
          <a:xfrm>
            <a:off x="3200400" y="2880360"/>
            <a:ext cx="260604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Ratings</a:t>
            </a:r>
            <a:endParaRPr lang="en-US" sz="1300" dirty="0"/>
          </a:p>
        </p:txBody>
      </p:sp>
      <p:sp>
        <p:nvSpPr>
          <p:cNvPr id="23" name="Text 21"/>
          <p:cNvSpPr/>
          <p:nvPr/>
        </p:nvSpPr>
        <p:spPr>
          <a:xfrm>
            <a:off x="3291840" y="3383280"/>
            <a:ext cx="2423160" cy="868680"/>
          </a:xfrm>
          <a:prstGeom prst="rect">
            <a:avLst/>
          </a:prstGeom>
          <a:noFill/>
          <a:ln/>
        </p:spPr>
        <p:txBody>
          <a:bodyPr wrap="square" lIns="0" tIns="0" rIns="0" bIns="0" rtlCol="0" anchor="ctr"/>
          <a:lstStyle/>
          <a:p>
            <a:pPr marL="0" indent="0">
              <a:buNone/>
            </a:pPr>
            <a:r>
              <a:rPr lang="en-US" sz="1000" dirty="0">
                <a:solidFill>
                  <a:srgbClr val="6B6B6B"/>
                </a:solidFill>
                <a:latin typeface="Arial" pitchFamily="34" charset="0"/>
                <a:ea typeface="Arial" pitchFamily="34" charset="-122"/>
                <a:cs typeface="Arial" pitchFamily="34" charset="-120"/>
              </a:rPr>
              <a:t>Driver &amp; customer star ratings by vehicle type using matrix</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5E9B1F"/>
          </a:solidFill>
          <a:ln/>
        </p:spPr>
      </p:sp>
      <p:sp>
        <p:nvSpPr>
          <p:cNvPr id="3" name="Text 1"/>
          <p:cNvSpPr/>
          <p:nvPr/>
        </p:nvSpPr>
        <p:spPr>
          <a:xfrm>
            <a:off x="457200" y="182880"/>
            <a:ext cx="8229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Technology Stack</a:t>
            </a:r>
            <a:endParaRPr lang="en-US" sz="2800" dirty="0"/>
          </a:p>
        </p:txBody>
      </p:sp>
      <p:sp>
        <p:nvSpPr>
          <p:cNvPr id="4" name="Shape 2"/>
          <p:cNvSpPr/>
          <p:nvPr/>
        </p:nvSpPr>
        <p:spPr>
          <a:xfrm>
            <a:off x="320040" y="1143000"/>
            <a:ext cx="4114800" cy="1600200"/>
          </a:xfrm>
          <a:prstGeom prst="roundRect">
            <a:avLst>
              <a:gd name="adj" fmla="val 5714"/>
            </a:avLst>
          </a:prstGeom>
          <a:solidFill>
            <a:srgbClr val="FFFFFF"/>
          </a:solidFill>
          <a:ln/>
          <a:effectLst>
            <a:outerShdw blurRad="101600" dist="38100" dir="2700000" algn="bl" rotWithShape="0">
              <a:srgbClr val="000000">
                <a:alpha val="12000"/>
              </a:srgbClr>
            </a:outerShdw>
          </a:effectLst>
        </p:spPr>
      </p:sp>
      <p:sp>
        <p:nvSpPr>
          <p:cNvPr id="5" name="Shape 3"/>
          <p:cNvSpPr/>
          <p:nvPr/>
        </p:nvSpPr>
        <p:spPr>
          <a:xfrm>
            <a:off x="320040" y="1143000"/>
            <a:ext cx="4114800" cy="457200"/>
          </a:xfrm>
          <a:prstGeom prst="roundRect">
            <a:avLst>
              <a:gd name="adj" fmla="val 20000"/>
            </a:avLst>
          </a:prstGeom>
          <a:solidFill>
            <a:srgbClr val="3F6F12"/>
          </a:solidFill>
          <a:ln/>
        </p:spPr>
      </p:sp>
      <p:sp>
        <p:nvSpPr>
          <p:cNvPr id="6" name="Text 4"/>
          <p:cNvSpPr/>
          <p:nvPr/>
        </p:nvSpPr>
        <p:spPr>
          <a:xfrm>
            <a:off x="457200" y="1207008"/>
            <a:ext cx="3840480" cy="347472"/>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Data Layer</a:t>
            </a:r>
            <a:endParaRPr lang="en-US" sz="1300" dirty="0"/>
          </a:p>
        </p:txBody>
      </p:sp>
      <p:sp>
        <p:nvSpPr>
          <p:cNvPr id="7" name="Shape 5"/>
          <p:cNvSpPr/>
          <p:nvPr/>
        </p:nvSpPr>
        <p:spPr>
          <a:xfrm>
            <a:off x="457200" y="1691640"/>
            <a:ext cx="1828800" cy="347472"/>
          </a:xfrm>
          <a:prstGeom prst="roundRect">
            <a:avLst>
              <a:gd name="adj" fmla="val 13158"/>
            </a:avLst>
          </a:prstGeom>
          <a:solidFill>
            <a:srgbClr val="F0F0F0"/>
          </a:solidFill>
          <a:ln/>
        </p:spPr>
      </p:sp>
      <p:sp>
        <p:nvSpPr>
          <p:cNvPr id="8" name="Text 6"/>
          <p:cNvSpPr/>
          <p:nvPr/>
        </p:nvSpPr>
        <p:spPr>
          <a:xfrm>
            <a:off x="457200" y="1709928"/>
            <a:ext cx="1828800" cy="310896"/>
          </a:xfrm>
          <a:prstGeom prst="rect">
            <a:avLst/>
          </a:prstGeom>
          <a:noFill/>
          <a:ln/>
        </p:spPr>
        <p:txBody>
          <a:bodyPr wrap="square" rtlCol="0" anchor="ctr"/>
          <a:lstStyle/>
          <a:p>
            <a:pPr marL="0" indent="0" algn="ctr">
              <a:buNone/>
            </a:pPr>
            <a:r>
              <a:rPr lang="en-US" sz="1000" dirty="0">
                <a:solidFill>
                  <a:srgbClr val="3F6F12"/>
                </a:solidFill>
                <a:latin typeface="Arial" pitchFamily="34" charset="0"/>
                <a:ea typeface="Arial" pitchFamily="34" charset="-122"/>
                <a:cs typeface="Arial" pitchFamily="34" charset="-120"/>
              </a:rPr>
              <a:t>PostgreSQL</a:t>
            </a:r>
            <a:endParaRPr lang="en-US" sz="1000" dirty="0"/>
          </a:p>
        </p:txBody>
      </p:sp>
      <p:sp>
        <p:nvSpPr>
          <p:cNvPr id="9" name="Shape 7"/>
          <p:cNvSpPr/>
          <p:nvPr/>
        </p:nvSpPr>
        <p:spPr>
          <a:xfrm>
            <a:off x="2423160" y="1691640"/>
            <a:ext cx="1828800" cy="347472"/>
          </a:xfrm>
          <a:prstGeom prst="roundRect">
            <a:avLst>
              <a:gd name="adj" fmla="val 13158"/>
            </a:avLst>
          </a:prstGeom>
          <a:solidFill>
            <a:srgbClr val="F0F0F0"/>
          </a:solidFill>
          <a:ln/>
        </p:spPr>
      </p:sp>
      <p:sp>
        <p:nvSpPr>
          <p:cNvPr id="10" name="Text 8"/>
          <p:cNvSpPr/>
          <p:nvPr/>
        </p:nvSpPr>
        <p:spPr>
          <a:xfrm>
            <a:off x="2423160" y="1709928"/>
            <a:ext cx="1828800" cy="310896"/>
          </a:xfrm>
          <a:prstGeom prst="rect">
            <a:avLst/>
          </a:prstGeom>
          <a:noFill/>
          <a:ln/>
        </p:spPr>
        <p:txBody>
          <a:bodyPr wrap="square" rtlCol="0" anchor="ctr"/>
          <a:lstStyle/>
          <a:p>
            <a:pPr marL="0" indent="0" algn="ctr">
              <a:buNone/>
            </a:pPr>
            <a:r>
              <a:rPr lang="en-US" sz="1000" dirty="0">
                <a:solidFill>
                  <a:srgbClr val="3F6F12"/>
                </a:solidFill>
                <a:latin typeface="Arial" pitchFamily="34" charset="0"/>
                <a:ea typeface="Arial" pitchFamily="34" charset="-122"/>
                <a:cs typeface="Arial" pitchFamily="34" charset="-120"/>
              </a:rPr>
              <a:t>SQLAlchemy ORM</a:t>
            </a:r>
            <a:endParaRPr lang="en-US" sz="1000" dirty="0"/>
          </a:p>
        </p:txBody>
      </p:sp>
      <p:sp>
        <p:nvSpPr>
          <p:cNvPr id="11" name="Shape 9"/>
          <p:cNvSpPr/>
          <p:nvPr/>
        </p:nvSpPr>
        <p:spPr>
          <a:xfrm>
            <a:off x="457200" y="2148840"/>
            <a:ext cx="1828800" cy="347472"/>
          </a:xfrm>
          <a:prstGeom prst="roundRect">
            <a:avLst>
              <a:gd name="adj" fmla="val 13158"/>
            </a:avLst>
          </a:prstGeom>
          <a:solidFill>
            <a:srgbClr val="F0F0F0"/>
          </a:solidFill>
          <a:ln/>
        </p:spPr>
      </p:sp>
      <p:sp>
        <p:nvSpPr>
          <p:cNvPr id="12" name="Text 10"/>
          <p:cNvSpPr/>
          <p:nvPr/>
        </p:nvSpPr>
        <p:spPr>
          <a:xfrm>
            <a:off x="457200" y="2167128"/>
            <a:ext cx="1828800" cy="310896"/>
          </a:xfrm>
          <a:prstGeom prst="rect">
            <a:avLst/>
          </a:prstGeom>
          <a:noFill/>
          <a:ln/>
        </p:spPr>
        <p:txBody>
          <a:bodyPr wrap="square" rtlCol="0" anchor="ctr"/>
          <a:lstStyle/>
          <a:p>
            <a:pPr marL="0" indent="0" algn="ctr">
              <a:buNone/>
            </a:pPr>
            <a:r>
              <a:rPr lang="en-US" sz="1000" dirty="0">
                <a:solidFill>
                  <a:srgbClr val="3F6F12"/>
                </a:solidFill>
                <a:latin typeface="Arial" pitchFamily="34" charset="0"/>
                <a:ea typeface="Arial" pitchFamily="34" charset="-122"/>
                <a:cs typeface="Arial" pitchFamily="34" charset="-120"/>
              </a:rPr>
              <a:t>Pandas</a:t>
            </a:r>
            <a:endParaRPr lang="en-US" sz="1000" dirty="0"/>
          </a:p>
        </p:txBody>
      </p:sp>
      <p:sp>
        <p:nvSpPr>
          <p:cNvPr id="15" name="Shape 13"/>
          <p:cNvSpPr/>
          <p:nvPr/>
        </p:nvSpPr>
        <p:spPr>
          <a:xfrm>
            <a:off x="4663440" y="1143000"/>
            <a:ext cx="4114800" cy="1600200"/>
          </a:xfrm>
          <a:prstGeom prst="roundRect">
            <a:avLst>
              <a:gd name="adj" fmla="val 5714"/>
            </a:avLst>
          </a:prstGeom>
          <a:solidFill>
            <a:srgbClr val="FFFFFF"/>
          </a:solidFill>
          <a:ln/>
          <a:effectLst>
            <a:outerShdw blurRad="101600" dist="38100" dir="2700000" algn="bl" rotWithShape="0">
              <a:srgbClr val="000000">
                <a:alpha val="12000"/>
              </a:srgbClr>
            </a:outerShdw>
          </a:effectLst>
        </p:spPr>
      </p:sp>
      <p:sp>
        <p:nvSpPr>
          <p:cNvPr id="16" name="Shape 14"/>
          <p:cNvSpPr/>
          <p:nvPr/>
        </p:nvSpPr>
        <p:spPr>
          <a:xfrm>
            <a:off x="4663440" y="1143000"/>
            <a:ext cx="4114800" cy="457200"/>
          </a:xfrm>
          <a:prstGeom prst="roundRect">
            <a:avLst>
              <a:gd name="adj" fmla="val 20000"/>
            </a:avLst>
          </a:prstGeom>
          <a:solidFill>
            <a:srgbClr val="5E9B1F"/>
          </a:solidFill>
          <a:ln/>
        </p:spPr>
      </p:sp>
      <p:sp>
        <p:nvSpPr>
          <p:cNvPr id="17" name="Text 15"/>
          <p:cNvSpPr/>
          <p:nvPr/>
        </p:nvSpPr>
        <p:spPr>
          <a:xfrm>
            <a:off x="4800600" y="1207008"/>
            <a:ext cx="3840480" cy="347472"/>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Visualization</a:t>
            </a:r>
            <a:endParaRPr lang="en-US" sz="1300" dirty="0"/>
          </a:p>
        </p:txBody>
      </p:sp>
      <p:sp>
        <p:nvSpPr>
          <p:cNvPr id="18" name="Shape 16"/>
          <p:cNvSpPr/>
          <p:nvPr/>
        </p:nvSpPr>
        <p:spPr>
          <a:xfrm>
            <a:off x="4800600" y="1691640"/>
            <a:ext cx="1828800" cy="347472"/>
          </a:xfrm>
          <a:prstGeom prst="roundRect">
            <a:avLst>
              <a:gd name="adj" fmla="val 13158"/>
            </a:avLst>
          </a:prstGeom>
          <a:solidFill>
            <a:srgbClr val="F0F0F0"/>
          </a:solidFill>
          <a:ln/>
        </p:spPr>
      </p:sp>
      <p:sp>
        <p:nvSpPr>
          <p:cNvPr id="19" name="Text 17"/>
          <p:cNvSpPr/>
          <p:nvPr/>
        </p:nvSpPr>
        <p:spPr>
          <a:xfrm>
            <a:off x="4800600" y="1709928"/>
            <a:ext cx="1828800" cy="310896"/>
          </a:xfrm>
          <a:prstGeom prst="rect">
            <a:avLst/>
          </a:prstGeom>
          <a:noFill/>
          <a:ln/>
        </p:spPr>
        <p:txBody>
          <a:bodyPr wrap="square" rtlCol="0" anchor="ctr"/>
          <a:lstStyle/>
          <a:p>
            <a:pPr marL="0" indent="0" algn="ctr">
              <a:buNone/>
            </a:pPr>
            <a:r>
              <a:rPr lang="en-US" sz="1000" dirty="0">
                <a:solidFill>
                  <a:srgbClr val="3F6F12"/>
                </a:solidFill>
                <a:latin typeface="Arial" pitchFamily="34" charset="0"/>
                <a:ea typeface="Arial" pitchFamily="34" charset="-122"/>
                <a:cs typeface="Arial" pitchFamily="34" charset="-120"/>
              </a:rPr>
              <a:t>Power BI Desktop</a:t>
            </a:r>
            <a:endParaRPr lang="en-US" sz="1000" dirty="0"/>
          </a:p>
        </p:txBody>
      </p:sp>
      <p:sp>
        <p:nvSpPr>
          <p:cNvPr id="20" name="Shape 18"/>
          <p:cNvSpPr/>
          <p:nvPr/>
        </p:nvSpPr>
        <p:spPr>
          <a:xfrm>
            <a:off x="6766560" y="1691640"/>
            <a:ext cx="1828800" cy="347472"/>
          </a:xfrm>
          <a:prstGeom prst="roundRect">
            <a:avLst>
              <a:gd name="adj" fmla="val 13158"/>
            </a:avLst>
          </a:prstGeom>
          <a:solidFill>
            <a:srgbClr val="F0F0F0"/>
          </a:solidFill>
          <a:ln/>
        </p:spPr>
      </p:sp>
      <p:sp>
        <p:nvSpPr>
          <p:cNvPr id="21" name="Text 19"/>
          <p:cNvSpPr/>
          <p:nvPr/>
        </p:nvSpPr>
        <p:spPr>
          <a:xfrm>
            <a:off x="6766560" y="1709928"/>
            <a:ext cx="1828800" cy="310896"/>
          </a:xfrm>
          <a:prstGeom prst="rect">
            <a:avLst/>
          </a:prstGeom>
          <a:noFill/>
          <a:ln/>
        </p:spPr>
        <p:txBody>
          <a:bodyPr wrap="square" rtlCol="0" anchor="ctr"/>
          <a:lstStyle/>
          <a:p>
            <a:pPr marL="0" indent="0" algn="ctr">
              <a:buNone/>
            </a:pPr>
            <a:r>
              <a:rPr lang="en-US" sz="1000" dirty="0">
                <a:solidFill>
                  <a:srgbClr val="3F6F12"/>
                </a:solidFill>
                <a:latin typeface="Arial" pitchFamily="34" charset="0"/>
                <a:ea typeface="Arial" pitchFamily="34" charset="-122"/>
                <a:cs typeface="Arial" pitchFamily="34" charset="-120"/>
              </a:rPr>
              <a:t>Plotly Express</a:t>
            </a:r>
            <a:endParaRPr lang="en-US" sz="1000" dirty="0"/>
          </a:p>
        </p:txBody>
      </p:sp>
      <p:sp>
        <p:nvSpPr>
          <p:cNvPr id="26" name="Shape 24"/>
          <p:cNvSpPr/>
          <p:nvPr/>
        </p:nvSpPr>
        <p:spPr>
          <a:xfrm>
            <a:off x="320040" y="2926080"/>
            <a:ext cx="4114800" cy="1600200"/>
          </a:xfrm>
          <a:prstGeom prst="roundRect">
            <a:avLst>
              <a:gd name="adj" fmla="val 5714"/>
            </a:avLst>
          </a:prstGeom>
          <a:solidFill>
            <a:srgbClr val="FFFFFF"/>
          </a:solidFill>
          <a:ln/>
          <a:effectLst>
            <a:outerShdw blurRad="101600" dist="38100" dir="2700000" algn="bl" rotWithShape="0">
              <a:srgbClr val="000000">
                <a:alpha val="12000"/>
              </a:srgbClr>
            </a:outerShdw>
          </a:effectLst>
        </p:spPr>
      </p:sp>
      <p:sp>
        <p:nvSpPr>
          <p:cNvPr id="27" name="Shape 25"/>
          <p:cNvSpPr/>
          <p:nvPr/>
        </p:nvSpPr>
        <p:spPr>
          <a:xfrm>
            <a:off x="320040" y="2926080"/>
            <a:ext cx="4114800" cy="457200"/>
          </a:xfrm>
          <a:prstGeom prst="roundRect">
            <a:avLst>
              <a:gd name="adj" fmla="val 20000"/>
            </a:avLst>
          </a:prstGeom>
          <a:solidFill>
            <a:srgbClr val="76B82A"/>
          </a:solidFill>
          <a:ln/>
        </p:spPr>
      </p:sp>
      <p:sp>
        <p:nvSpPr>
          <p:cNvPr id="28" name="Text 26"/>
          <p:cNvSpPr/>
          <p:nvPr/>
        </p:nvSpPr>
        <p:spPr>
          <a:xfrm>
            <a:off x="457200" y="2990088"/>
            <a:ext cx="3840480" cy="347472"/>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Application</a:t>
            </a:r>
            <a:endParaRPr lang="en-US" sz="1300" dirty="0"/>
          </a:p>
        </p:txBody>
      </p:sp>
      <p:sp>
        <p:nvSpPr>
          <p:cNvPr id="29" name="Shape 27"/>
          <p:cNvSpPr/>
          <p:nvPr/>
        </p:nvSpPr>
        <p:spPr>
          <a:xfrm>
            <a:off x="457200" y="3474720"/>
            <a:ext cx="1828800" cy="347472"/>
          </a:xfrm>
          <a:prstGeom prst="roundRect">
            <a:avLst>
              <a:gd name="adj" fmla="val 13158"/>
            </a:avLst>
          </a:prstGeom>
          <a:solidFill>
            <a:srgbClr val="F0F0F0"/>
          </a:solidFill>
          <a:ln/>
        </p:spPr>
      </p:sp>
      <p:sp>
        <p:nvSpPr>
          <p:cNvPr id="30" name="Text 28"/>
          <p:cNvSpPr/>
          <p:nvPr/>
        </p:nvSpPr>
        <p:spPr>
          <a:xfrm>
            <a:off x="457200" y="3493008"/>
            <a:ext cx="1828800" cy="310896"/>
          </a:xfrm>
          <a:prstGeom prst="rect">
            <a:avLst/>
          </a:prstGeom>
          <a:noFill/>
          <a:ln/>
        </p:spPr>
        <p:txBody>
          <a:bodyPr wrap="square" rtlCol="0" anchor="ctr"/>
          <a:lstStyle/>
          <a:p>
            <a:pPr marL="0" indent="0" algn="ctr">
              <a:buNone/>
            </a:pPr>
            <a:r>
              <a:rPr lang="en-US" sz="1000" dirty="0">
                <a:solidFill>
                  <a:srgbClr val="3F6F12"/>
                </a:solidFill>
                <a:latin typeface="Arial" pitchFamily="34" charset="0"/>
                <a:ea typeface="Arial" pitchFamily="34" charset="-122"/>
                <a:cs typeface="Arial" pitchFamily="34" charset="-120"/>
              </a:rPr>
              <a:t>Streamlit</a:t>
            </a:r>
            <a:endParaRPr lang="en-US" sz="1000" dirty="0"/>
          </a:p>
        </p:txBody>
      </p:sp>
      <p:sp>
        <p:nvSpPr>
          <p:cNvPr id="31" name="Shape 29"/>
          <p:cNvSpPr/>
          <p:nvPr/>
        </p:nvSpPr>
        <p:spPr>
          <a:xfrm>
            <a:off x="2423160" y="3474720"/>
            <a:ext cx="1828800" cy="347472"/>
          </a:xfrm>
          <a:prstGeom prst="roundRect">
            <a:avLst>
              <a:gd name="adj" fmla="val 13158"/>
            </a:avLst>
          </a:prstGeom>
          <a:solidFill>
            <a:srgbClr val="F0F0F0"/>
          </a:solidFill>
          <a:ln/>
        </p:spPr>
      </p:sp>
      <p:sp>
        <p:nvSpPr>
          <p:cNvPr id="32" name="Text 30"/>
          <p:cNvSpPr/>
          <p:nvPr/>
        </p:nvSpPr>
        <p:spPr>
          <a:xfrm>
            <a:off x="2423160" y="3493008"/>
            <a:ext cx="1828800" cy="310896"/>
          </a:xfrm>
          <a:prstGeom prst="rect">
            <a:avLst/>
          </a:prstGeom>
          <a:noFill/>
          <a:ln/>
        </p:spPr>
        <p:txBody>
          <a:bodyPr wrap="square" rtlCol="0" anchor="ctr"/>
          <a:lstStyle/>
          <a:p>
            <a:pPr marL="0" indent="0" algn="ctr">
              <a:buNone/>
            </a:pPr>
            <a:r>
              <a:rPr lang="en-US" sz="1000" dirty="0">
                <a:solidFill>
                  <a:srgbClr val="3F6F12"/>
                </a:solidFill>
                <a:latin typeface="Arial" pitchFamily="34" charset="0"/>
                <a:ea typeface="Arial" pitchFamily="34" charset="-122"/>
                <a:cs typeface="Arial" pitchFamily="34" charset="-120"/>
              </a:rPr>
              <a:t>Python </a:t>
            </a:r>
            <a:endParaRPr lang="en-US" sz="1000" dirty="0"/>
          </a:p>
        </p:txBody>
      </p:sp>
      <p:sp>
        <p:nvSpPr>
          <p:cNvPr id="33" name="Shape 31"/>
          <p:cNvSpPr/>
          <p:nvPr/>
        </p:nvSpPr>
        <p:spPr>
          <a:xfrm>
            <a:off x="457200" y="3931920"/>
            <a:ext cx="1828800" cy="347472"/>
          </a:xfrm>
          <a:prstGeom prst="roundRect">
            <a:avLst>
              <a:gd name="adj" fmla="val 13158"/>
            </a:avLst>
          </a:prstGeom>
          <a:solidFill>
            <a:srgbClr val="F0F0F0"/>
          </a:solidFill>
          <a:ln/>
        </p:spPr>
      </p:sp>
      <p:sp>
        <p:nvSpPr>
          <p:cNvPr id="34" name="Text 32"/>
          <p:cNvSpPr/>
          <p:nvPr/>
        </p:nvSpPr>
        <p:spPr>
          <a:xfrm>
            <a:off x="457200" y="3950208"/>
            <a:ext cx="1828800" cy="310896"/>
          </a:xfrm>
          <a:prstGeom prst="rect">
            <a:avLst/>
          </a:prstGeom>
          <a:noFill/>
          <a:ln/>
        </p:spPr>
        <p:txBody>
          <a:bodyPr wrap="square" rtlCol="0" anchor="ctr"/>
          <a:lstStyle/>
          <a:p>
            <a:pPr marL="0" indent="0" algn="ctr">
              <a:buNone/>
            </a:pPr>
            <a:r>
              <a:rPr lang="en-US" sz="1000" dirty="0">
                <a:solidFill>
                  <a:srgbClr val="3F6F12"/>
                </a:solidFill>
                <a:latin typeface="Arial" pitchFamily="34" charset="0"/>
                <a:ea typeface="Arial" pitchFamily="34" charset="-122"/>
                <a:cs typeface="Arial" pitchFamily="34" charset="-120"/>
              </a:rPr>
              <a:t>HTML/CSS</a:t>
            </a:r>
            <a:endParaRPr lang="en-US" sz="1000" dirty="0"/>
          </a:p>
        </p:txBody>
      </p:sp>
      <p:sp>
        <p:nvSpPr>
          <p:cNvPr id="35" name="Shape 33"/>
          <p:cNvSpPr/>
          <p:nvPr/>
        </p:nvSpPr>
        <p:spPr>
          <a:xfrm>
            <a:off x="2423160" y="3931920"/>
            <a:ext cx="1828800" cy="347472"/>
          </a:xfrm>
          <a:prstGeom prst="roundRect">
            <a:avLst>
              <a:gd name="adj" fmla="val 13158"/>
            </a:avLst>
          </a:prstGeom>
          <a:solidFill>
            <a:srgbClr val="F0F0F0"/>
          </a:solidFill>
          <a:ln/>
        </p:spPr>
      </p:sp>
      <p:sp>
        <p:nvSpPr>
          <p:cNvPr id="36" name="Text 34"/>
          <p:cNvSpPr/>
          <p:nvPr/>
        </p:nvSpPr>
        <p:spPr>
          <a:xfrm>
            <a:off x="2423160" y="3950208"/>
            <a:ext cx="1828800" cy="310896"/>
          </a:xfrm>
          <a:prstGeom prst="rect">
            <a:avLst/>
          </a:prstGeom>
          <a:noFill/>
          <a:ln/>
        </p:spPr>
        <p:txBody>
          <a:bodyPr wrap="square" rtlCol="0" anchor="ctr"/>
          <a:lstStyle/>
          <a:p>
            <a:pPr marL="0" indent="0" algn="ctr">
              <a:buNone/>
            </a:pPr>
            <a:r>
              <a:rPr lang="en-US" sz="1000" dirty="0">
                <a:solidFill>
                  <a:srgbClr val="3F6F12"/>
                </a:solidFill>
                <a:latin typeface="Arial" pitchFamily="34" charset="0"/>
                <a:ea typeface="Arial" pitchFamily="34" charset="-122"/>
                <a:cs typeface="Arial" pitchFamily="34" charset="-120"/>
              </a:rPr>
              <a:t>Base64 Encoding</a:t>
            </a:r>
            <a:endParaRPr lang="en-US" sz="1000" dirty="0"/>
          </a:p>
        </p:txBody>
      </p:sp>
      <p:sp>
        <p:nvSpPr>
          <p:cNvPr id="37" name="Shape 35"/>
          <p:cNvSpPr/>
          <p:nvPr/>
        </p:nvSpPr>
        <p:spPr>
          <a:xfrm>
            <a:off x="4663440" y="2926080"/>
            <a:ext cx="4114800" cy="1600200"/>
          </a:xfrm>
          <a:prstGeom prst="roundRect">
            <a:avLst>
              <a:gd name="adj" fmla="val 5714"/>
            </a:avLst>
          </a:prstGeom>
          <a:solidFill>
            <a:srgbClr val="FFFFFF"/>
          </a:solidFill>
          <a:ln/>
          <a:effectLst>
            <a:outerShdw blurRad="101600" dist="38100" dir="2700000" algn="bl" rotWithShape="0">
              <a:srgbClr val="000000">
                <a:alpha val="12000"/>
              </a:srgbClr>
            </a:outerShdw>
          </a:effectLst>
        </p:spPr>
      </p:sp>
      <p:sp>
        <p:nvSpPr>
          <p:cNvPr id="38" name="Shape 36"/>
          <p:cNvSpPr/>
          <p:nvPr/>
        </p:nvSpPr>
        <p:spPr>
          <a:xfrm>
            <a:off x="4663440" y="2926080"/>
            <a:ext cx="4114800" cy="457200"/>
          </a:xfrm>
          <a:prstGeom prst="roundRect">
            <a:avLst>
              <a:gd name="adj" fmla="val 20000"/>
            </a:avLst>
          </a:prstGeom>
          <a:solidFill>
            <a:srgbClr val="8DC63F"/>
          </a:solidFill>
          <a:ln/>
        </p:spPr>
      </p:sp>
      <p:sp>
        <p:nvSpPr>
          <p:cNvPr id="39" name="Text 37"/>
          <p:cNvSpPr/>
          <p:nvPr/>
        </p:nvSpPr>
        <p:spPr>
          <a:xfrm>
            <a:off x="4800600" y="2990088"/>
            <a:ext cx="3840480" cy="347472"/>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Power BI Visuals</a:t>
            </a:r>
            <a:endParaRPr lang="en-US" sz="1300" dirty="0"/>
          </a:p>
        </p:txBody>
      </p:sp>
      <p:sp>
        <p:nvSpPr>
          <p:cNvPr id="40" name="Shape 38"/>
          <p:cNvSpPr/>
          <p:nvPr/>
        </p:nvSpPr>
        <p:spPr>
          <a:xfrm>
            <a:off x="4800600" y="3474720"/>
            <a:ext cx="1828800" cy="347472"/>
          </a:xfrm>
          <a:prstGeom prst="roundRect">
            <a:avLst>
              <a:gd name="adj" fmla="val 13158"/>
            </a:avLst>
          </a:prstGeom>
          <a:solidFill>
            <a:srgbClr val="F0F0F0"/>
          </a:solidFill>
          <a:ln/>
        </p:spPr>
      </p:sp>
      <p:sp>
        <p:nvSpPr>
          <p:cNvPr id="41" name="Text 39"/>
          <p:cNvSpPr/>
          <p:nvPr/>
        </p:nvSpPr>
        <p:spPr>
          <a:xfrm>
            <a:off x="4800600" y="3493008"/>
            <a:ext cx="1828800" cy="310896"/>
          </a:xfrm>
          <a:prstGeom prst="rect">
            <a:avLst/>
          </a:prstGeom>
          <a:noFill/>
          <a:ln/>
        </p:spPr>
        <p:txBody>
          <a:bodyPr wrap="square" rtlCol="0" anchor="ctr"/>
          <a:lstStyle/>
          <a:p>
            <a:pPr marL="0" indent="0" algn="ctr">
              <a:buNone/>
            </a:pPr>
            <a:r>
              <a:rPr lang="en-US" sz="1000" dirty="0">
                <a:solidFill>
                  <a:srgbClr val="3F6F12"/>
                </a:solidFill>
                <a:latin typeface="Arial" pitchFamily="34" charset="0"/>
                <a:ea typeface="Arial" pitchFamily="34" charset="-122"/>
                <a:cs typeface="Arial" pitchFamily="34" charset="-120"/>
              </a:rPr>
              <a:t>Table Visual</a:t>
            </a:r>
            <a:endParaRPr lang="en-US" sz="1000" dirty="0"/>
          </a:p>
        </p:txBody>
      </p:sp>
      <p:sp>
        <p:nvSpPr>
          <p:cNvPr id="42" name="Shape 40"/>
          <p:cNvSpPr/>
          <p:nvPr/>
        </p:nvSpPr>
        <p:spPr>
          <a:xfrm>
            <a:off x="6766560" y="3474720"/>
            <a:ext cx="1828800" cy="347472"/>
          </a:xfrm>
          <a:prstGeom prst="roundRect">
            <a:avLst>
              <a:gd name="adj" fmla="val 13158"/>
            </a:avLst>
          </a:prstGeom>
          <a:solidFill>
            <a:srgbClr val="F0F0F0"/>
          </a:solidFill>
          <a:ln/>
        </p:spPr>
      </p:sp>
      <p:sp>
        <p:nvSpPr>
          <p:cNvPr id="43" name="Text 41"/>
          <p:cNvSpPr/>
          <p:nvPr/>
        </p:nvSpPr>
        <p:spPr>
          <a:xfrm>
            <a:off x="6766560" y="3493008"/>
            <a:ext cx="1828800" cy="310896"/>
          </a:xfrm>
          <a:prstGeom prst="rect">
            <a:avLst/>
          </a:prstGeom>
          <a:noFill/>
          <a:ln/>
        </p:spPr>
        <p:txBody>
          <a:bodyPr wrap="square" rtlCol="0" anchor="ctr"/>
          <a:lstStyle/>
          <a:p>
            <a:pPr marL="0" indent="0" algn="ctr">
              <a:buNone/>
            </a:pPr>
            <a:r>
              <a:rPr lang="en-US" sz="1000" dirty="0">
                <a:solidFill>
                  <a:srgbClr val="3F6F12"/>
                </a:solidFill>
                <a:latin typeface="Arial" pitchFamily="34" charset="0"/>
                <a:ea typeface="Arial" pitchFamily="34" charset="-122"/>
                <a:cs typeface="Arial" pitchFamily="34" charset="-120"/>
              </a:rPr>
              <a:t>Matrix Visual</a:t>
            </a:r>
            <a:endParaRPr lang="en-US" sz="1000" dirty="0"/>
          </a:p>
        </p:txBody>
      </p:sp>
      <p:sp>
        <p:nvSpPr>
          <p:cNvPr id="44" name="Shape 42"/>
          <p:cNvSpPr/>
          <p:nvPr/>
        </p:nvSpPr>
        <p:spPr>
          <a:xfrm>
            <a:off x="4800600" y="3931920"/>
            <a:ext cx="1828800" cy="347472"/>
          </a:xfrm>
          <a:prstGeom prst="roundRect">
            <a:avLst>
              <a:gd name="adj" fmla="val 13158"/>
            </a:avLst>
          </a:prstGeom>
          <a:solidFill>
            <a:srgbClr val="F0F0F0"/>
          </a:solidFill>
          <a:ln/>
        </p:spPr>
      </p:sp>
      <p:sp>
        <p:nvSpPr>
          <p:cNvPr id="45" name="Text 43"/>
          <p:cNvSpPr/>
          <p:nvPr/>
        </p:nvSpPr>
        <p:spPr>
          <a:xfrm>
            <a:off x="4800600" y="3950208"/>
            <a:ext cx="1828800" cy="310896"/>
          </a:xfrm>
          <a:prstGeom prst="rect">
            <a:avLst/>
          </a:prstGeom>
          <a:noFill/>
          <a:ln/>
        </p:spPr>
        <p:txBody>
          <a:bodyPr wrap="square" rtlCol="0" anchor="ctr"/>
          <a:lstStyle/>
          <a:p>
            <a:pPr marL="0" indent="0" algn="ctr">
              <a:buNone/>
            </a:pPr>
            <a:r>
              <a:rPr lang="en-US" sz="1000" dirty="0">
                <a:solidFill>
                  <a:srgbClr val="3F6F12"/>
                </a:solidFill>
                <a:latin typeface="Arial" pitchFamily="34" charset="0"/>
                <a:cs typeface="Arial" pitchFamily="34" charset="-120"/>
              </a:rPr>
              <a:t>Charts and Graphs</a:t>
            </a:r>
            <a:endParaRPr lang="en-US" sz="1000" dirty="0"/>
          </a:p>
        </p:txBody>
      </p:sp>
      <p:sp>
        <p:nvSpPr>
          <p:cNvPr id="46" name="Shape 44"/>
          <p:cNvSpPr/>
          <p:nvPr/>
        </p:nvSpPr>
        <p:spPr>
          <a:xfrm>
            <a:off x="6766560" y="3931920"/>
            <a:ext cx="1828800" cy="347472"/>
          </a:xfrm>
          <a:prstGeom prst="roundRect">
            <a:avLst>
              <a:gd name="adj" fmla="val 13158"/>
            </a:avLst>
          </a:prstGeom>
          <a:solidFill>
            <a:srgbClr val="F0F0F0"/>
          </a:solidFill>
          <a:ln/>
        </p:spPr>
      </p:sp>
      <p:sp>
        <p:nvSpPr>
          <p:cNvPr id="47" name="Text 45"/>
          <p:cNvSpPr/>
          <p:nvPr/>
        </p:nvSpPr>
        <p:spPr>
          <a:xfrm>
            <a:off x="6766560" y="3950208"/>
            <a:ext cx="1828800" cy="310896"/>
          </a:xfrm>
          <a:prstGeom prst="rect">
            <a:avLst/>
          </a:prstGeom>
          <a:noFill/>
          <a:ln/>
        </p:spPr>
        <p:txBody>
          <a:bodyPr wrap="square" rtlCol="0" anchor="ctr"/>
          <a:lstStyle/>
          <a:p>
            <a:pPr marL="0" indent="0" algn="ctr">
              <a:buNone/>
            </a:pPr>
            <a:r>
              <a:rPr lang="en-US" sz="1000" dirty="0">
                <a:solidFill>
                  <a:srgbClr val="3F6F12"/>
                </a:solidFill>
                <a:latin typeface="Arial" pitchFamily="34" charset="0"/>
                <a:ea typeface="Arial" pitchFamily="34" charset="-122"/>
                <a:cs typeface="Arial" pitchFamily="34" charset="-120"/>
              </a:rPr>
              <a:t>Page Navigation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3F6F12"/>
          </a:solidFill>
          <a:ln/>
        </p:spPr>
      </p:sp>
      <p:sp>
        <p:nvSpPr>
          <p:cNvPr id="3" name="Shape 1"/>
          <p:cNvSpPr/>
          <p:nvPr/>
        </p:nvSpPr>
        <p:spPr>
          <a:xfrm>
            <a:off x="0" y="1645920"/>
            <a:ext cx="9144000" cy="3497580"/>
          </a:xfrm>
          <a:prstGeom prst="rect">
            <a:avLst/>
          </a:prstGeom>
          <a:solidFill>
            <a:srgbClr val="1A1A1A"/>
          </a:solidFill>
          <a:ln/>
        </p:spPr>
      </p:sp>
      <p:sp>
        <p:nvSpPr>
          <p:cNvPr id="4" name="Shape 2"/>
          <p:cNvSpPr/>
          <p:nvPr/>
        </p:nvSpPr>
        <p:spPr>
          <a:xfrm>
            <a:off x="3886200" y="228600"/>
            <a:ext cx="1371600" cy="1371600"/>
          </a:xfrm>
          <a:prstGeom prst="ellipse">
            <a:avLst/>
          </a:prstGeom>
          <a:solidFill>
            <a:srgbClr val="1A1A1A"/>
          </a:solidFill>
          <a:ln w="25400">
            <a:solidFill>
              <a:srgbClr val="76B82A"/>
            </a:solidFill>
            <a:prstDash val="solid"/>
          </a:ln>
        </p:spPr>
      </p:sp>
      <p:sp>
        <p:nvSpPr>
          <p:cNvPr id="5" name="Shape 3"/>
          <p:cNvSpPr/>
          <p:nvPr/>
        </p:nvSpPr>
        <p:spPr>
          <a:xfrm>
            <a:off x="4224528" y="566928"/>
            <a:ext cx="694944" cy="694944"/>
          </a:xfrm>
          <a:prstGeom prst="ellipse">
            <a:avLst/>
          </a:prstGeom>
          <a:solidFill>
            <a:srgbClr val="FFFFFF"/>
          </a:solidFill>
          <a:ln/>
        </p:spPr>
      </p:sp>
      <p:sp>
        <p:nvSpPr>
          <p:cNvPr id="6" name="Shape 4"/>
          <p:cNvSpPr/>
          <p:nvPr/>
        </p:nvSpPr>
        <p:spPr>
          <a:xfrm>
            <a:off x="4425696" y="768096"/>
            <a:ext cx="292608" cy="292608"/>
          </a:xfrm>
          <a:prstGeom prst="ellipse">
            <a:avLst/>
          </a:prstGeom>
          <a:solidFill>
            <a:srgbClr val="1A1A1A"/>
          </a:solidFill>
          <a:ln/>
        </p:spPr>
      </p:sp>
      <p:sp>
        <p:nvSpPr>
          <p:cNvPr id="7" name="Shape 5"/>
          <p:cNvSpPr/>
          <p:nvPr/>
        </p:nvSpPr>
        <p:spPr>
          <a:xfrm>
            <a:off x="4517136" y="859536"/>
            <a:ext cx="109728" cy="109728"/>
          </a:xfrm>
          <a:prstGeom prst="ellipse">
            <a:avLst/>
          </a:prstGeom>
          <a:solidFill>
            <a:srgbClr val="F1C40F"/>
          </a:solidFill>
          <a:ln/>
        </p:spPr>
      </p:sp>
      <p:sp>
        <p:nvSpPr>
          <p:cNvPr id="8" name="Text 6"/>
          <p:cNvSpPr/>
          <p:nvPr/>
        </p:nvSpPr>
        <p:spPr>
          <a:xfrm>
            <a:off x="457200" y="1828800"/>
            <a:ext cx="8229600" cy="73152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Thank You</a:t>
            </a:r>
            <a:endParaRPr lang="en-US" sz="3600" dirty="0"/>
          </a:p>
        </p:txBody>
      </p:sp>
      <p:sp>
        <p:nvSpPr>
          <p:cNvPr id="9" name="Text 7"/>
          <p:cNvSpPr/>
          <p:nvPr/>
        </p:nvSpPr>
        <p:spPr>
          <a:xfrm>
            <a:off x="457200" y="2606040"/>
            <a:ext cx="8229600" cy="365760"/>
          </a:xfrm>
          <a:prstGeom prst="rect">
            <a:avLst/>
          </a:prstGeom>
          <a:noFill/>
          <a:ln/>
        </p:spPr>
        <p:txBody>
          <a:bodyPr wrap="square" rtlCol="0" anchor="ctr"/>
          <a:lstStyle/>
          <a:p>
            <a:pPr marL="0" indent="0" algn="ctr">
              <a:buNone/>
            </a:pPr>
            <a:r>
              <a:rPr lang="en-US" sz="1400" kern="0" spc="100" dirty="0">
                <a:solidFill>
                  <a:srgbClr val="8DC63F"/>
                </a:solidFill>
                <a:latin typeface="Arial" pitchFamily="34" charset="0"/>
                <a:ea typeface="Arial" pitchFamily="34" charset="-122"/>
                <a:cs typeface="Arial" pitchFamily="34" charset="-120"/>
              </a:rPr>
              <a:t>OLA Ride Analytics — End-to-End Business Intelligence Project</a:t>
            </a:r>
            <a:endParaRPr lang="en-US" sz="1400" dirty="0"/>
          </a:p>
        </p:txBody>
      </p:sp>
      <p:sp>
        <p:nvSpPr>
          <p:cNvPr id="10" name="Text 8"/>
          <p:cNvSpPr/>
          <p:nvPr/>
        </p:nvSpPr>
        <p:spPr>
          <a:xfrm>
            <a:off x="1828800" y="3108960"/>
            <a:ext cx="5486400" cy="1463040"/>
          </a:xfrm>
          <a:prstGeom prst="rect">
            <a:avLst/>
          </a:prstGeom>
          <a:noFill/>
          <a:ln/>
        </p:spPr>
        <p:txBody>
          <a:bodyPr wrap="square" rtlCol="0" anchor="ctr"/>
          <a:lstStyle/>
          <a:p>
            <a:pPr marL="342900" indent="-342900">
              <a:buSzPct val="100000"/>
              <a:buChar char="•"/>
            </a:pPr>
            <a:r>
              <a:rPr lang="en-US" sz="1300" dirty="0">
                <a:solidFill>
                  <a:srgbClr val="FFFFFF"/>
                </a:solidFill>
                <a:latin typeface="Arial" pitchFamily="34" charset="0"/>
                <a:ea typeface="Arial" pitchFamily="34" charset="-122"/>
                <a:cs typeface="Arial" pitchFamily="34" charset="-120"/>
              </a:rPr>
              <a:t>Cleaned &amp; processed 1,03,024 ride records</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Developed 15+ SQL queries for business insights</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Built 5-page interactive Power BI dashboard</a:t>
            </a:r>
            <a:endParaRPr lang="en-US" sz="1300" dirty="0"/>
          </a:p>
          <a:p>
            <a:pPr marL="342900" indent="-342900">
              <a:buSzPct val="100000"/>
              <a:buChar char="•"/>
            </a:pPr>
            <a:r>
              <a:rPr lang="en-US" sz="1300" dirty="0">
                <a:solidFill>
                  <a:srgbClr val="FFFFFF"/>
                </a:solidFill>
                <a:latin typeface="Arial" pitchFamily="34" charset="0"/>
                <a:ea typeface="Arial" pitchFamily="34" charset="-122"/>
                <a:cs typeface="Arial" pitchFamily="34" charset="-120"/>
              </a:rPr>
              <a:t>Created Streamlit app with live DB integration</a:t>
            </a:r>
            <a:endParaRPr lang="en-US" sz="1300" dirty="0"/>
          </a:p>
          <a:p>
            <a:pPr marL="0" indent="0">
              <a:buNone/>
            </a:pPr>
            <a:endParaRPr lang="en-US" sz="1300" dirty="0"/>
          </a:p>
        </p:txBody>
      </p:sp>
      <p:sp>
        <p:nvSpPr>
          <p:cNvPr id="11" name="Text 9"/>
          <p:cNvSpPr/>
          <p:nvPr/>
        </p:nvSpPr>
        <p:spPr>
          <a:xfrm>
            <a:off x="457200" y="4709160"/>
            <a:ext cx="8229600" cy="274320"/>
          </a:xfrm>
          <a:prstGeom prst="rect">
            <a:avLst/>
          </a:prstGeom>
          <a:noFill/>
          <a:ln/>
        </p:spPr>
        <p:txBody>
          <a:bodyPr wrap="square" rtlCol="0" anchor="ctr"/>
          <a:lstStyle/>
          <a:p>
            <a:pPr marL="0" indent="0" algn="ctr">
              <a:buNone/>
            </a:pPr>
            <a:r>
              <a:rPr lang="en-US" sz="1000" dirty="0">
                <a:solidFill>
                  <a:srgbClr val="6B6B6B"/>
                </a:solidFill>
                <a:latin typeface="Arial" pitchFamily="34" charset="0"/>
                <a:ea typeface="Arial" pitchFamily="34" charset="-122"/>
                <a:cs typeface="Arial" pitchFamily="34" charset="-120"/>
              </a:rPr>
              <a:t>Data Analytics | Power BI | Streamlit | PostgreSQL | Python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737</Words>
  <Application>Microsoft Office PowerPoint</Application>
  <PresentationFormat>On-screen Show (16:9)</PresentationFormat>
  <Paragraphs>146</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OLA Ride Analytics - Project Documentation</dc:title>
  <dc:subject>PptxGenJS Presentation</dc:subject>
  <dc:creator>PptxGenJS</dc:creator>
  <cp:lastModifiedBy>pavithran0407@gmail.com</cp:lastModifiedBy>
  <cp:revision>3</cp:revision>
  <dcterms:created xsi:type="dcterms:W3CDTF">2026-06-29T10:28:13Z</dcterms:created>
  <dcterms:modified xsi:type="dcterms:W3CDTF">2026-06-30T18:44:05Z</dcterms:modified>
</cp:coreProperties>
</file>